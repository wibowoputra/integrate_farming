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Sapa warga dengan hangat. Perkenalkan nama program dan taglinenya: satu kalimat yang mudah diingat - sampah dapur tidak lagi dibuang, tapi menjadi berkah; halaman rumah yang tadinya kosong menjadi kebun. Sebutkan bahwa proposal ini diajukan melalui musyawarah warga.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ini adalah slide terpenting. Jika warga hanya mengingat satu hal, inilah yang harus mereka ingat: sampah kita hampir 40% adalah sisa makanan yang bisa diubah jadi kompos; keluarga kita menghabiskan Rp5,4 juta per tahun hanya untuk belanja sayur; dan modal awal program ini cuma Rp1,7 juta untuk 10-20 KK. Yang kami minta hari ini: persetujuan warga dan dukungan anggaran awal.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Setiap pagi kita buang sisa sayur, kulit buah, dan ampas nasi ke kantong sampah. Data SIPSN 2024: Indonesia menghasilkan 32,8 juta ton sampah per tahun dan hampir 40% di antaranya sisa makanan - bahan yang seharusnya bisa dikomposkan. Kenyataannya hanya 39% sampah dikelola secara layak. Satu komposter rumah saja bisa mengurangi timbulan sampah keluarga 21-42%. Sampah organik yang menumpuk di TPA juga melepas metana, gas pemanas bumi. Artinya: memilah sampah dapur hari ini adalah tindakan paling murah dan paling berguna bagi lingkungan kita.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Lalu masalah kedua: harga. Cabai rawit pernah menyentuh Rp130.000 per kg, bawang merah menembus Rp42.000-65.000 per kg, dan sayur seperti bayam bisa naik 3-4 kali lipat saat cuaca buruk. Rata-rata keluarga menghabiskan Rp15.000 per hari untuk sayur, atau setara Rp5,4 juta per tahun. Harga ini fluktuatif dan sulit diprediksi. Padahal, sebagian besar sayur dan bumbu itu bisa kita tanam sendiri di halaman rumah dengan perawatan sederhana.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Inilah gagasan program Integration Farmer. Kita satukan dua masalah dalam satu solusi: sampah dapur diolah menjadi kompos, kompos dipakai untuk menyuburkan sayur dan bumbu dapur, dan tanamannya kita letakkan di halaman rumah masing-masing atau lahan komunal RW. Kemitraannya sederhana - meniru pola inti-plasma: ada kelompok penggerak yang menyediakan alat dan pelatihan, dan ada KK peserta yang merawat tanaman di rumahnya. Hasil panen dinikmati keluarga dan sebagian dijual untuk kas bersama.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Tujuan program ini bertingkat tiga. Sosial: kebersamaan warga - gotong royong, musyawarah rutin, dan hubungan tetangga yang makin akrab. Ekonomi: hemat pengeluaran - jika separuh kebutuhan sayur kita panen sendiri, keluarga bisa menghemat hingga Rp2,7 juta per tahun, ditambah peluang menjual kelebihan panen. Lingkungan: sampah rumah tangga turun 21-42%, halaman menjadi hijau dan sejuk, dan tidak ada lagi sampah yang dibakar atau bau di sekitar rumah.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Cara kerjanya sangat sederhana dalam empat langkah. Pertama, kumpulkan sampah dapur - sisa sayur, kulit buah, ampas nasi - setiap hari di wadah komposter. Kedua, biarkan terkompos selama 30-45 hari sampai matang; hasilnya pupuk kompos gratis. Ketiga, gunakan kompos untuk menanam sayur dan bumbu di halaman atau bedeng. Keempat, panen - sebagian untuk konsumsi keluarga, kelebihannya dijual ke warga. Proses berulang terus: makin banyak sampah, makin banyak kompos, makin banyak panen.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Kemitraan ini meniru pola inti-plasma yang sudah lama dipakai di koperasi dan perkebunan, hanya dalam versi sederhana. Inti adalah penggerak - pengurus RT/RW dan pemuda - yang menyediakan komposter, mengelola kas, mengatur pelatihan, dan membantu pemasaran. Plasma adalah 10-20 KK peserta yang menyediakan halaman, merawat tanaman, dan menyetor sampah dapur secara rutin. Pembagian hasil: 70% dibawa pulang oleh KK peserta, 20% masuk kas kelompok untuk membeli bibit periode berikutnya, dan 10% untuk kas RT/RW. Semuanya transparan dan dicatat.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Program seperti ini bukan gagasan yang belum teruji. Di RW 09 Kalideres, lahan kosong 200 meter persegi menghasilkan 120 kg sayur sekali panen dan kini panen rutin setiap bulan. Di Duren Sawit, urban farming 7 kelurahan menghasilkan 511 kg sayur pada panen kedua. Di Kutisari Surabaya, kebun rumah mampu memenuhi 26% kebutuhan sayur keluarga setiap bulan. Jika mereka bisa, kita juga bisa - dengan lahan halaman kita sendiri.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Pelaksanaannya dirancang dalam empat bulan. Bulan pertama: musyawarah, pembentukan kelompok, pendataan KK, dan pengadaan alat. Bulan kedua: pelatihan mengompos dan bercocok tanam, lalu pembagian bibit. Bulan ketiga: penanaman dan perawatan bersama dengan pendampingan fasilitator. Bulan keempat: panen perdana - kita rayakan bersama, hasilnya dibagikan, sebagian dijual untuk kas, dan kita evaluasi bersama untuk melanjutkan ke periode berikutnya.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Berikut estimasi anggaran sederhana, disusun dari harga pasar 2024-2026. Empat komposter, bibit 12 sachet, media dan pupuk, alat kebun bersama, biaya pelatihan, spanduk, serta cadangan tak terduga - totalnya sekitar Rp1,67 juta untuk 10 sampai 20 KK. Artinya hanya sekitar Rp85.000 sampai Rp167.000 per KK, atau kurang dari belanja sayur satu bulan. Lahan tidak perlu dibeli karena kita memanfaatkan halaman rumah dan lahan komunal yang sudah ada.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Pendanaannya tiga jalur: kas RT/RW, iuran ringan dari KK peserta, dan sponsor mikro dari pengusaha lokal - warung, toko bangunan, atau rekan warga yang ingin berbagi. Kami siapkan tiga paket ringan: Kawan Kebun Rp250.000 dengan penyebutan di spanduk; Mitra Hijau Rp500.000 dengan papan nama bedeng; dan Patron Panen Rp1 juta dengan nama disematkan di kebun serta undangan khusus panen perdana. Setiap sponsor menerima laporan foto hasil panen.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Manfaatnya langsung terasa. Isi dompet: hemat hingga Rp2,7 juta per tahun, sayur dan bumbu gratis setiap panen, kompos gratis sehingga tidak perlu beli pupuk, dan ada peluang menjual sayur ke warga lain. Kualitas hidup: sayur segar tanpa pestisida, halaman menjadi rapi dan sejuk, waktu berkualitas bersama keluarga di kebun, dan anak-anak belajar berkebun serta tidak takut kotor.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Kami juga sudah memetakan risikonya. Kalau partisipasi rendah: iuran dibuat ringan, jadwal piket fleksibel, dan ada kabar harian di grup WA agar semua merasa terlibat. Kalau cuaca dan hama: tanam dibuat bertahap, disiapkan naungan, dan ada pendampingan fasilitator. Kalau dana terbatas: kita mulai bertahap dari 10 KK dulu, ditopang sponsor mikro dan kas RT/RW.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Keberhasilannya kami ukur dengan angka sederhana: 10 sampai 20 KK aktif, 4 komposter berjalan dengan penurunan sampah 21-42%, panen perdana minimal 25 kilogram gabungan, dan 20% kas kelompok yang kembali dipakai untuk membeli bibit periode berikutnya. Keberlanjutannya dijamin karena kas kelompok hidup dari hasil penjualan panen - setelah tahap awal, program ini tidak lagi bergantung pada dana awal. Evaluasi dilakukan bulanan dan laporan terbuka untuk warga serta sponsor.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Tutup dengan permintaan yang jelas dan spesifik. Pertama, setujui program dan anggaran awal Rp1,67 juta dalam musyawarah malam ini. Kedua, daftarkan keluarga Anda sebagai KK peserta - kami membuka 10-20 KK pertama. Ketiga, bantu sebagai sponsor mikro sesuai kemampuan. Musyawarah pengesahan dijadwalkan [Hari/Tanggal] pukul 19.30 di Balai RT. Silakan hubungi panitia untuk pertanyaan. Terima kasih - sampai jumpa di kebun kita.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11871655" y="0"/>
            <a:ext cx="320040" cy="6858000"/>
          </a:xfrm>
          <a:prstGeom prst="roundRect">
            <a:avLst>
              <a:gd name="adj" fmla="val 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822960" y="914400"/>
            <a:ext cx="3977639" cy="402336"/>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b="1">
                <a:solidFill>
                  <a:srgbClr val="2E7D32"/>
                </a:solidFill>
                <a:latin typeface="Calibri"/>
              </a:rPr>
              <a:t>PROPOSAL PROGRAM KOMUNITAS RT/RW</a:t>
            </a:r>
          </a:p>
        </p:txBody>
      </p:sp>
      <p:sp>
        <p:nvSpPr>
          <p:cNvPr id="5" name="TextBox 4"/>
          <p:cNvSpPr txBox="1"/>
          <p:nvPr/>
        </p:nvSpPr>
        <p:spPr>
          <a:xfrm>
            <a:off x="822960" y="1536192"/>
            <a:ext cx="5669280" cy="1005840"/>
          </a:xfrm>
          <a:prstGeom prst="rect">
            <a:avLst/>
          </a:prstGeom>
          <a:noFill/>
        </p:spPr>
        <p:txBody>
          <a:bodyPr wrap="square" anchor="t">
            <a:spAutoFit/>
          </a:bodyPr>
          <a:lstStyle/>
          <a:p>
            <a:pPr algn="l">
              <a:lnSpc>
                <a:spcPct val="105000"/>
              </a:lnSpc>
              <a:spcAft>
                <a:spcPts val="0"/>
              </a:spcAft>
            </a:pPr>
            <a:r>
              <a:rPr sz="5400" b="1">
                <a:solidFill>
                  <a:srgbClr val="1B5E20"/>
                </a:solidFill>
                <a:latin typeface="Calibri"/>
              </a:rPr>
              <a:t>Integration Farmer</a:t>
            </a:r>
          </a:p>
        </p:txBody>
      </p:sp>
      <p:sp>
        <p:nvSpPr>
          <p:cNvPr id="6" name="TextBox 5"/>
          <p:cNvSpPr txBox="1"/>
          <p:nvPr/>
        </p:nvSpPr>
        <p:spPr>
          <a:xfrm>
            <a:off x="822960" y="2670048"/>
            <a:ext cx="5669280" cy="822960"/>
          </a:xfrm>
          <a:prstGeom prst="rect">
            <a:avLst/>
          </a:prstGeom>
          <a:noFill/>
        </p:spPr>
        <p:txBody>
          <a:bodyPr wrap="square" anchor="t">
            <a:spAutoFit/>
          </a:bodyPr>
          <a:lstStyle/>
          <a:p>
            <a:pPr algn="l">
              <a:lnSpc>
                <a:spcPct val="105000"/>
              </a:lnSpc>
              <a:spcAft>
                <a:spcPts val="0"/>
              </a:spcAft>
            </a:pPr>
            <a:r>
              <a:rPr sz="2600" b="1">
                <a:solidFill>
                  <a:srgbClr val="2E7D32"/>
                </a:solidFill>
                <a:latin typeface="Calibri"/>
              </a:rPr>
              <a:t>Sampah Jadi Berkah, Halaman Jadi Kebun</a:t>
            </a:r>
          </a:p>
        </p:txBody>
      </p:sp>
      <p:sp>
        <p:nvSpPr>
          <p:cNvPr id="7" name="Rounded Rectangle 6"/>
          <p:cNvSpPr/>
          <p:nvPr/>
        </p:nvSpPr>
        <p:spPr>
          <a:xfrm>
            <a:off x="822960" y="3401568"/>
            <a:ext cx="1280160" cy="64008"/>
          </a:xfrm>
          <a:prstGeom prst="roundRect">
            <a:avLst>
              <a:gd name="adj" fmla="val 5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3657600"/>
            <a:ext cx="5394960" cy="1188720"/>
          </a:xfrm>
          <a:prstGeom prst="rect">
            <a:avLst/>
          </a:prstGeom>
          <a:noFill/>
        </p:spPr>
        <p:txBody>
          <a:bodyPr wrap="square" anchor="t">
            <a:spAutoFit/>
          </a:bodyPr>
          <a:lstStyle/>
          <a:p>
            <a:pPr algn="l">
              <a:lnSpc>
                <a:spcPct val="125000"/>
              </a:lnSpc>
              <a:spcAft>
                <a:spcPts val="0"/>
              </a:spcAft>
            </a:pPr>
            <a:r>
              <a:rPr sz="1600" b="0">
                <a:solidFill>
                  <a:srgbClr val="5C6B60"/>
                </a:solidFill>
                <a:latin typeface="Calibri"/>
              </a:rPr>
              <a:t>Kemitraan Komunitas Urban Farming: Sampah Organik menjadi Kompos &amp; Sayur Segar di Halaman Rumah</a:t>
            </a:r>
          </a:p>
        </p:txBody>
      </p:sp>
      <p:sp>
        <p:nvSpPr>
          <p:cNvPr id="9" name="TextBox 8"/>
          <p:cNvSpPr txBox="1"/>
          <p:nvPr/>
        </p:nvSpPr>
        <p:spPr>
          <a:xfrm>
            <a:off x="822960" y="5394960"/>
            <a:ext cx="5394960" cy="365760"/>
          </a:xfrm>
          <a:prstGeom prst="rect">
            <a:avLst/>
          </a:prstGeom>
          <a:noFill/>
        </p:spPr>
        <p:txBody>
          <a:bodyPr wrap="square" anchor="t">
            <a:spAutoFit/>
          </a:bodyPr>
          <a:lstStyle/>
          <a:p>
            <a:pPr algn="l">
              <a:lnSpc>
                <a:spcPct val="105000"/>
              </a:lnSpc>
              <a:spcAft>
                <a:spcPts val="0"/>
              </a:spcAft>
            </a:pPr>
            <a:r>
              <a:rPr sz="1300" b="1">
                <a:solidFill>
                  <a:srgbClr val="1F2A24"/>
                </a:solidFill>
                <a:latin typeface="Calibri"/>
              </a:rPr>
              <a:t>Proposal Program Komunitas  |  Oktober 2026</a:t>
            </a:r>
          </a:p>
        </p:txBody>
      </p:sp>
      <p:sp>
        <p:nvSpPr>
          <p:cNvPr id="10" name="TextBox 9"/>
          <p:cNvSpPr txBox="1"/>
          <p:nvPr/>
        </p:nvSpPr>
        <p:spPr>
          <a:xfrm>
            <a:off x="822960" y="5806440"/>
            <a:ext cx="5394960" cy="365760"/>
          </a:xfrm>
          <a:prstGeom prst="rect">
            <a:avLst/>
          </a:prstGeom>
          <a:noFill/>
        </p:spPr>
        <p:txBody>
          <a:bodyPr wrap="square" anchor="t">
            <a:spAutoFit/>
          </a:bodyPr>
          <a:lstStyle/>
          <a:p>
            <a:pPr algn="l">
              <a:lnSpc>
                <a:spcPct val="105000"/>
              </a:lnSpc>
              <a:spcAft>
                <a:spcPts val="0"/>
              </a:spcAft>
            </a:pPr>
            <a:r>
              <a:rPr sz="1200" b="0">
                <a:solidFill>
                  <a:srgbClr val="5C6B60"/>
                </a:solidFill>
                <a:latin typeface="Calibri"/>
              </a:rPr>
              <a:t>Diajukan melalui musyawarah warga untuk persetujuan anggaran dan dukungan program</a:t>
            </a:r>
          </a:p>
        </p:txBody>
      </p:sp>
      <p:pic>
        <p:nvPicPr>
          <p:cNvPr id="11" name="Picture 10" descr="cover_hero_550x500.jpg"/>
          <p:cNvPicPr>
            <a:picLocks noChangeAspect="1"/>
          </p:cNvPicPr>
          <p:nvPr/>
        </p:nvPicPr>
        <p:blipFill>
          <a:blip r:embed="rId2"/>
          <a:stretch>
            <a:fillRect/>
          </a:stretch>
        </p:blipFill>
        <p:spPr>
          <a:xfrm>
            <a:off x="6583680" y="1234440"/>
            <a:ext cx="5029200" cy="4572000"/>
          </a:xfrm>
          <a:prstGeom prst="roundRect">
            <a:avLst>
              <a:gd name="adj" fmla="val 9000"/>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Ringkasan Program dalam Satu Layar</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640080" y="1600200"/>
            <a:ext cx="3423818" cy="224028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68680" y="1874519"/>
            <a:ext cx="2966618" cy="640080"/>
          </a:xfrm>
          <a:prstGeom prst="rect">
            <a:avLst/>
          </a:prstGeom>
          <a:noFill/>
        </p:spPr>
        <p:txBody>
          <a:bodyPr wrap="square" anchor="t">
            <a:spAutoFit/>
          </a:bodyPr>
          <a:lstStyle/>
          <a:p>
            <a:pPr algn="ctr">
              <a:lnSpc>
                <a:spcPct val="105000"/>
              </a:lnSpc>
              <a:spcAft>
                <a:spcPts val="0"/>
              </a:spcAft>
            </a:pPr>
            <a:r>
              <a:rPr sz="3400" b="1">
                <a:solidFill>
                  <a:srgbClr val="2E7D32"/>
                </a:solidFill>
                <a:latin typeface="Calibri"/>
              </a:rPr>
              <a:t>40%</a:t>
            </a:r>
          </a:p>
        </p:txBody>
      </p:sp>
      <p:sp>
        <p:nvSpPr>
          <p:cNvPr id="6" name="TextBox 5"/>
          <p:cNvSpPr txBox="1"/>
          <p:nvPr/>
        </p:nvSpPr>
        <p:spPr>
          <a:xfrm>
            <a:off x="896112" y="2651760"/>
            <a:ext cx="2911754" cy="1005840"/>
          </a:xfrm>
          <a:prstGeom prst="rect">
            <a:avLst/>
          </a:prstGeom>
          <a:noFill/>
        </p:spPr>
        <p:txBody>
          <a:bodyPr wrap="square" anchor="t">
            <a:spAutoFit/>
          </a:bodyPr>
          <a:lstStyle/>
          <a:p>
            <a:pPr algn="ctr">
              <a:lnSpc>
                <a:spcPct val="115000"/>
              </a:lnSpc>
              <a:spcAft>
                <a:spcPts val="0"/>
              </a:spcAft>
            </a:pPr>
            <a:r>
              <a:rPr sz="1250" b="0">
                <a:solidFill>
                  <a:srgbClr val="5C6B60"/>
                </a:solidFill>
                <a:latin typeface="Calibri"/>
              </a:rPr>
              <a:t>Sampah nasional adalah sisa makanan yang bisa jadi kompos (SIPSN, 2025)</a:t>
            </a:r>
          </a:p>
        </p:txBody>
      </p:sp>
      <p:sp>
        <p:nvSpPr>
          <p:cNvPr id="7" name="Rounded Rectangle 6"/>
          <p:cNvSpPr/>
          <p:nvPr/>
        </p:nvSpPr>
        <p:spPr>
          <a:xfrm>
            <a:off x="4383938" y="1600200"/>
            <a:ext cx="3423818" cy="224028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4612538" y="1874519"/>
            <a:ext cx="2966618" cy="640080"/>
          </a:xfrm>
          <a:prstGeom prst="rect">
            <a:avLst/>
          </a:prstGeom>
          <a:noFill/>
        </p:spPr>
        <p:txBody>
          <a:bodyPr wrap="square" anchor="t">
            <a:spAutoFit/>
          </a:bodyPr>
          <a:lstStyle/>
          <a:p>
            <a:pPr algn="ctr">
              <a:lnSpc>
                <a:spcPct val="105000"/>
              </a:lnSpc>
              <a:spcAft>
                <a:spcPts val="0"/>
              </a:spcAft>
            </a:pPr>
            <a:r>
              <a:rPr sz="3400" b="1">
                <a:solidFill>
                  <a:srgbClr val="2E7D32"/>
                </a:solidFill>
                <a:latin typeface="Calibri"/>
              </a:rPr>
              <a:t>Rp5,4 jt</a:t>
            </a:r>
          </a:p>
        </p:txBody>
      </p:sp>
      <p:sp>
        <p:nvSpPr>
          <p:cNvPr id="9" name="TextBox 8"/>
          <p:cNvSpPr txBox="1"/>
          <p:nvPr/>
        </p:nvSpPr>
        <p:spPr>
          <a:xfrm>
            <a:off x="4639970" y="2651760"/>
            <a:ext cx="2911754" cy="1005840"/>
          </a:xfrm>
          <a:prstGeom prst="rect">
            <a:avLst/>
          </a:prstGeom>
          <a:noFill/>
        </p:spPr>
        <p:txBody>
          <a:bodyPr wrap="square" anchor="t">
            <a:spAutoFit/>
          </a:bodyPr>
          <a:lstStyle/>
          <a:p>
            <a:pPr algn="ctr">
              <a:lnSpc>
                <a:spcPct val="115000"/>
              </a:lnSpc>
              <a:spcAft>
                <a:spcPts val="0"/>
              </a:spcAft>
            </a:pPr>
            <a:r>
              <a:rPr sz="1250" b="0">
                <a:solidFill>
                  <a:srgbClr val="5C6B60"/>
                </a:solidFill>
                <a:latin typeface="Calibri"/>
              </a:rPr>
              <a:t>Rata-rata belanja sayur per keluarga setiap tahun</a:t>
            </a:r>
          </a:p>
        </p:txBody>
      </p:sp>
      <p:sp>
        <p:nvSpPr>
          <p:cNvPr id="10" name="Rounded Rectangle 9"/>
          <p:cNvSpPr/>
          <p:nvPr/>
        </p:nvSpPr>
        <p:spPr>
          <a:xfrm>
            <a:off x="8127796" y="1600200"/>
            <a:ext cx="3423818" cy="224028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356396" y="1874519"/>
            <a:ext cx="2966618" cy="640080"/>
          </a:xfrm>
          <a:prstGeom prst="rect">
            <a:avLst/>
          </a:prstGeom>
          <a:noFill/>
        </p:spPr>
        <p:txBody>
          <a:bodyPr wrap="square" anchor="t">
            <a:spAutoFit/>
          </a:bodyPr>
          <a:lstStyle/>
          <a:p>
            <a:pPr algn="ctr">
              <a:lnSpc>
                <a:spcPct val="105000"/>
              </a:lnSpc>
              <a:spcAft>
                <a:spcPts val="0"/>
              </a:spcAft>
            </a:pPr>
            <a:r>
              <a:rPr sz="3400" b="1">
                <a:solidFill>
                  <a:srgbClr val="2E7D32"/>
                </a:solidFill>
                <a:latin typeface="Calibri"/>
              </a:rPr>
              <a:t>Rp1,7 jt</a:t>
            </a:r>
          </a:p>
        </p:txBody>
      </p:sp>
      <p:sp>
        <p:nvSpPr>
          <p:cNvPr id="12" name="TextBox 11"/>
          <p:cNvSpPr txBox="1"/>
          <p:nvPr/>
        </p:nvSpPr>
        <p:spPr>
          <a:xfrm>
            <a:off x="8383828" y="2651760"/>
            <a:ext cx="2911754" cy="1005840"/>
          </a:xfrm>
          <a:prstGeom prst="rect">
            <a:avLst/>
          </a:prstGeom>
          <a:noFill/>
        </p:spPr>
        <p:txBody>
          <a:bodyPr wrap="square" anchor="t">
            <a:spAutoFit/>
          </a:bodyPr>
          <a:lstStyle/>
          <a:p>
            <a:pPr algn="ctr">
              <a:lnSpc>
                <a:spcPct val="115000"/>
              </a:lnSpc>
              <a:spcAft>
                <a:spcPts val="0"/>
              </a:spcAft>
            </a:pPr>
            <a:r>
              <a:rPr sz="1250" b="0">
                <a:solidFill>
                  <a:srgbClr val="5C6B60"/>
                </a:solidFill>
                <a:latin typeface="Calibri"/>
              </a:rPr>
              <a:t>Modal awal program untuk 10-20 KK - lebih murah dari belanja sayur 4 bulan</a:t>
            </a:r>
          </a:p>
        </p:txBody>
      </p:sp>
      <p:sp>
        <p:nvSpPr>
          <p:cNvPr id="13" name="Rounded Rectangle 12"/>
          <p:cNvSpPr/>
          <p:nvPr/>
        </p:nvSpPr>
        <p:spPr>
          <a:xfrm>
            <a:off x="640080" y="4160520"/>
            <a:ext cx="10911535" cy="566928"/>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50" b="1">
                <a:solidFill>
                  <a:srgbClr val="1B5E20"/>
                </a:solidFill>
                <a:latin typeface="Calibri"/>
              </a:rPr>
              <a:t>Masalah: sampah dapur menumpuk, sayur makin mahal</a:t>
            </a:r>
          </a:p>
        </p:txBody>
      </p:sp>
      <p:sp>
        <p:nvSpPr>
          <p:cNvPr id="14" name="Rounded Rectangle 13"/>
          <p:cNvSpPr/>
          <p:nvPr/>
        </p:nvSpPr>
        <p:spPr>
          <a:xfrm>
            <a:off x="640080" y="4873752"/>
            <a:ext cx="10911535" cy="566928"/>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50" b="1">
                <a:solidFill>
                  <a:srgbClr val="1B5E20"/>
                </a:solidFill>
                <a:latin typeface="Calibri"/>
              </a:rPr>
              <a:t>Solusi: kompos dari sampah, sayur dari halaman</a:t>
            </a:r>
          </a:p>
        </p:txBody>
      </p:sp>
      <p:sp>
        <p:nvSpPr>
          <p:cNvPr id="15" name="Rounded Rectangle 14"/>
          <p:cNvSpPr/>
          <p:nvPr/>
        </p:nvSpPr>
        <p:spPr>
          <a:xfrm>
            <a:off x="640080" y="5586984"/>
            <a:ext cx="10911535" cy="566928"/>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50" b="1">
                <a:solidFill>
                  <a:srgbClr val="1B5E20"/>
                </a:solidFill>
                <a:latin typeface="Calibri"/>
              </a:rPr>
              <a:t>Permintaan: persetujuan program + dukungan anggaran awal</a:t>
            </a:r>
          </a:p>
        </p:txBody>
      </p:sp>
      <p:sp>
        <p:nvSpPr>
          <p:cNvPr id="16" name="TextBox 15"/>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7" name="TextBox 16"/>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Sampah Dapur Kita: Dibuang, Padahal Berharga</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40080" y="1691640"/>
            <a:ext cx="6492240" cy="4206240"/>
          </a:xfrm>
          <a:prstGeom prst="rect">
            <a:avLst/>
          </a:prstGeom>
          <a:noFill/>
        </p:spPr>
        <p:txBody>
          <a:bodyPr wrap="square" anchor="t">
            <a:spAutoFit/>
          </a:bodyPr>
          <a:lstStyle/>
          <a:p>
            <a:pPr>
              <a:lnSpc>
                <a:spcPct val="108000"/>
              </a:lnSpc>
              <a:spcAft>
                <a:spcPts val="1200"/>
              </a:spcAft>
            </a:pPr>
            <a:r>
              <a:rPr sz="1650" b="1">
                <a:solidFill>
                  <a:srgbClr val="7CB342"/>
                </a:solidFill>
                <a:latin typeface="Calibri"/>
              </a:rPr>
              <a:t>•  </a:t>
            </a:r>
            <a:r>
              <a:rPr sz="1650" b="0">
                <a:solidFill>
                  <a:srgbClr val="1F2A24"/>
                </a:solidFill>
                <a:latin typeface="Calibri"/>
              </a:rPr>
              <a:t>Sisa makanan = 40% dari sampah nasional</a:t>
            </a:r>
          </a:p>
          <a:p>
            <a:pPr>
              <a:lnSpc>
                <a:spcPct val="108000"/>
              </a:lnSpc>
              <a:spcAft>
                <a:spcPts val="1200"/>
              </a:spcAft>
            </a:pPr>
            <a:r>
              <a:rPr sz="1650" b="1">
                <a:solidFill>
                  <a:srgbClr val="7CB342"/>
                </a:solidFill>
                <a:latin typeface="Calibri"/>
              </a:rPr>
              <a:t>•  </a:t>
            </a:r>
            <a:r>
              <a:rPr sz="1650" b="0">
                <a:solidFill>
                  <a:srgbClr val="1F2A24"/>
                </a:solidFill>
                <a:latin typeface="Calibri"/>
              </a:rPr>
              <a:t>32,8 juta ton sampah Indonesia per tahun (2024)</a:t>
            </a:r>
          </a:p>
          <a:p>
            <a:pPr>
              <a:lnSpc>
                <a:spcPct val="108000"/>
              </a:lnSpc>
              <a:spcAft>
                <a:spcPts val="1200"/>
              </a:spcAft>
            </a:pPr>
            <a:r>
              <a:rPr sz="1650" b="1">
                <a:solidFill>
                  <a:srgbClr val="7CB342"/>
                </a:solidFill>
                <a:latin typeface="Calibri"/>
              </a:rPr>
              <a:t>•  </a:t>
            </a:r>
            <a:r>
              <a:rPr sz="1650" b="0">
                <a:solidFill>
                  <a:srgbClr val="1F2A24"/>
                </a:solidFill>
                <a:latin typeface="Calibri"/>
              </a:rPr>
              <a:t>Hanya 39% sampah dikelola secara layak</a:t>
            </a:r>
          </a:p>
          <a:p>
            <a:pPr>
              <a:lnSpc>
                <a:spcPct val="108000"/>
              </a:lnSpc>
              <a:spcAft>
                <a:spcPts val="1200"/>
              </a:spcAft>
            </a:pPr>
            <a:r>
              <a:rPr sz="1650" b="1">
                <a:solidFill>
                  <a:srgbClr val="7CB342"/>
                </a:solidFill>
                <a:latin typeface="Calibri"/>
              </a:rPr>
              <a:t>•  </a:t>
            </a:r>
            <a:r>
              <a:rPr sz="1650" b="0">
                <a:solidFill>
                  <a:srgbClr val="1F2A24"/>
                </a:solidFill>
                <a:latin typeface="Calibri"/>
              </a:rPr>
              <a:t>1 komposter rumah turunkan sampah 21-42%</a:t>
            </a:r>
          </a:p>
          <a:p>
            <a:pPr>
              <a:lnSpc>
                <a:spcPct val="108000"/>
              </a:lnSpc>
              <a:spcAft>
                <a:spcPts val="1200"/>
              </a:spcAft>
            </a:pPr>
            <a:r>
              <a:rPr sz="1650" b="1">
                <a:solidFill>
                  <a:srgbClr val="7CB342"/>
                </a:solidFill>
                <a:latin typeface="Calibri"/>
              </a:rPr>
              <a:t>•  </a:t>
            </a:r>
            <a:r>
              <a:rPr sz="1650" b="0">
                <a:solidFill>
                  <a:srgbClr val="1F2A24"/>
                </a:solidFill>
                <a:latin typeface="Calibri"/>
              </a:rPr>
              <a:t>Sampah organik di TPA memicu gas metana</a:t>
            </a:r>
          </a:p>
        </p:txBody>
      </p:sp>
      <p:sp>
        <p:nvSpPr>
          <p:cNvPr id="5" name="Rounded Rectangle 4"/>
          <p:cNvSpPr/>
          <p:nvPr/>
        </p:nvSpPr>
        <p:spPr>
          <a:xfrm>
            <a:off x="7452360" y="1600200"/>
            <a:ext cx="4069080" cy="251460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icon_sampah_409x240.jpg"/>
          <p:cNvPicPr>
            <a:picLocks noChangeAspect="1"/>
          </p:cNvPicPr>
          <p:nvPr/>
        </p:nvPicPr>
        <p:blipFill>
          <a:blip r:embed="rId2"/>
          <a:stretch>
            <a:fillRect/>
          </a:stretch>
        </p:blipFill>
        <p:spPr>
          <a:xfrm>
            <a:off x="7616952" y="1764792"/>
            <a:ext cx="3739896" cy="2194560"/>
          </a:xfrm>
          <a:prstGeom prst="roundRect">
            <a:avLst>
              <a:gd name="adj" fmla="val 7000"/>
            </a:avLst>
          </a:prstGeom>
        </p:spPr>
      </p:pic>
      <p:sp>
        <p:nvSpPr>
          <p:cNvPr id="7" name="Rounded Rectangle 6"/>
          <p:cNvSpPr/>
          <p:nvPr/>
        </p:nvSpPr>
        <p:spPr>
          <a:xfrm>
            <a:off x="7452360" y="4297680"/>
            <a:ext cx="4069080" cy="914400"/>
          </a:xfrm>
          <a:prstGeom prst="roundRect">
            <a:avLst>
              <a:gd name="adj" fmla="val 6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680960" y="4407408"/>
            <a:ext cx="3611880" cy="384048"/>
          </a:xfrm>
          <a:prstGeom prst="rect">
            <a:avLst/>
          </a:prstGeom>
          <a:noFill/>
        </p:spPr>
        <p:txBody>
          <a:bodyPr wrap="square" anchor="t">
            <a:spAutoFit/>
          </a:bodyPr>
          <a:lstStyle/>
          <a:p>
            <a:pPr algn="l">
              <a:lnSpc>
                <a:spcPct val="105000"/>
              </a:lnSpc>
              <a:spcAft>
                <a:spcPts val="0"/>
              </a:spcAft>
            </a:pPr>
            <a:r>
              <a:rPr sz="2000" b="1">
                <a:solidFill>
                  <a:srgbClr val="2E7D32"/>
                </a:solidFill>
                <a:latin typeface="Calibri"/>
              </a:rPr>
              <a:t>32,8 jt ton</a:t>
            </a:r>
          </a:p>
        </p:txBody>
      </p:sp>
      <p:sp>
        <p:nvSpPr>
          <p:cNvPr id="9" name="TextBox 8"/>
          <p:cNvSpPr txBox="1"/>
          <p:nvPr/>
        </p:nvSpPr>
        <p:spPr>
          <a:xfrm>
            <a:off x="7680960" y="4791456"/>
            <a:ext cx="3611880" cy="365760"/>
          </a:xfrm>
          <a:prstGeom prst="rect">
            <a:avLst/>
          </a:prstGeom>
          <a:noFill/>
        </p:spPr>
        <p:txBody>
          <a:bodyPr wrap="square" anchor="t">
            <a:spAutoFit/>
          </a:bodyPr>
          <a:lstStyle/>
          <a:p>
            <a:pPr algn="l">
              <a:lnSpc>
                <a:spcPct val="100000"/>
              </a:lnSpc>
              <a:spcAft>
                <a:spcPts val="0"/>
              </a:spcAft>
            </a:pPr>
            <a:r>
              <a:rPr sz="1150" b="0">
                <a:solidFill>
                  <a:srgbClr val="5C6B60"/>
                </a:solidFill>
                <a:latin typeface="Calibri"/>
              </a:rPr>
              <a:t>timbulan sampah nasional 2024</a:t>
            </a:r>
          </a:p>
        </p:txBody>
      </p:sp>
      <p:sp>
        <p:nvSpPr>
          <p:cNvPr id="10" name="Rounded Rectangle 9"/>
          <p:cNvSpPr/>
          <p:nvPr/>
        </p:nvSpPr>
        <p:spPr>
          <a:xfrm>
            <a:off x="7452360" y="5349240"/>
            <a:ext cx="4069080" cy="914400"/>
          </a:xfrm>
          <a:prstGeom prst="roundRect">
            <a:avLst>
              <a:gd name="adj" fmla="val 6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680960" y="5458968"/>
            <a:ext cx="3611880" cy="384048"/>
          </a:xfrm>
          <a:prstGeom prst="rect">
            <a:avLst/>
          </a:prstGeom>
          <a:noFill/>
        </p:spPr>
        <p:txBody>
          <a:bodyPr wrap="square" anchor="t">
            <a:spAutoFit/>
          </a:bodyPr>
          <a:lstStyle/>
          <a:p>
            <a:pPr algn="l">
              <a:lnSpc>
                <a:spcPct val="105000"/>
              </a:lnSpc>
              <a:spcAft>
                <a:spcPts val="0"/>
              </a:spcAft>
            </a:pPr>
            <a:r>
              <a:rPr sz="2000" b="1">
                <a:solidFill>
                  <a:srgbClr val="2E7D32"/>
                </a:solidFill>
                <a:latin typeface="Calibri"/>
              </a:rPr>
              <a:t>39%</a:t>
            </a:r>
          </a:p>
        </p:txBody>
      </p:sp>
      <p:sp>
        <p:nvSpPr>
          <p:cNvPr id="12" name="TextBox 11"/>
          <p:cNvSpPr txBox="1"/>
          <p:nvPr/>
        </p:nvSpPr>
        <p:spPr>
          <a:xfrm>
            <a:off x="7680960" y="5843016"/>
            <a:ext cx="3611880" cy="365760"/>
          </a:xfrm>
          <a:prstGeom prst="rect">
            <a:avLst/>
          </a:prstGeom>
          <a:noFill/>
        </p:spPr>
        <p:txBody>
          <a:bodyPr wrap="square" anchor="t">
            <a:spAutoFit/>
          </a:bodyPr>
          <a:lstStyle/>
          <a:p>
            <a:pPr algn="l">
              <a:lnSpc>
                <a:spcPct val="100000"/>
              </a:lnSpc>
              <a:spcAft>
                <a:spcPts val="0"/>
              </a:spcAft>
            </a:pPr>
            <a:r>
              <a:rPr sz="1150" b="0">
                <a:solidFill>
                  <a:srgbClr val="5C6B60"/>
                </a:solidFill>
                <a:latin typeface="Calibri"/>
              </a:rPr>
              <a:t>sampah dikelola layak</a:t>
            </a:r>
          </a:p>
        </p:txBody>
      </p:sp>
      <p:sp>
        <p:nvSpPr>
          <p:cNvPr id="13" name="TextBox 12"/>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4" name="TextBox 13"/>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Sayur &amp; Bumbu Mahal, Belanja Menyiksa</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40080" y="1691640"/>
            <a:ext cx="6492240" cy="4206240"/>
          </a:xfrm>
          <a:prstGeom prst="rect">
            <a:avLst/>
          </a:prstGeom>
          <a:noFill/>
        </p:spPr>
        <p:txBody>
          <a:bodyPr wrap="square" anchor="t">
            <a:spAutoFit/>
          </a:bodyPr>
          <a:lstStyle/>
          <a:p>
            <a:pPr>
              <a:lnSpc>
                <a:spcPct val="108000"/>
              </a:lnSpc>
              <a:spcAft>
                <a:spcPts val="1200"/>
              </a:spcAft>
            </a:pPr>
            <a:r>
              <a:rPr sz="1650" b="1">
                <a:solidFill>
                  <a:srgbClr val="7CB342"/>
                </a:solidFill>
                <a:latin typeface="Calibri"/>
              </a:rPr>
              <a:t>•  </a:t>
            </a:r>
            <a:r>
              <a:rPr sz="1650" b="0">
                <a:solidFill>
                  <a:srgbClr val="1F2A24"/>
                </a:solidFill>
                <a:latin typeface="Calibri"/>
              </a:rPr>
              <a:t>Cabai rawit pernah tembus Rp130.000/kg (2026)</a:t>
            </a:r>
          </a:p>
          <a:p>
            <a:pPr>
              <a:lnSpc>
                <a:spcPct val="108000"/>
              </a:lnSpc>
              <a:spcAft>
                <a:spcPts val="1200"/>
              </a:spcAft>
            </a:pPr>
            <a:r>
              <a:rPr sz="1650" b="1">
                <a:solidFill>
                  <a:srgbClr val="7CB342"/>
                </a:solidFill>
                <a:latin typeface="Calibri"/>
              </a:rPr>
              <a:t>•  </a:t>
            </a:r>
            <a:r>
              <a:rPr sz="1650" b="0">
                <a:solidFill>
                  <a:srgbClr val="1F2A24"/>
                </a:solidFill>
                <a:latin typeface="Calibri"/>
              </a:rPr>
              <a:t>Bawang merah menembus Rp42.000-65.000/kg</a:t>
            </a:r>
          </a:p>
          <a:p>
            <a:pPr>
              <a:lnSpc>
                <a:spcPct val="108000"/>
              </a:lnSpc>
              <a:spcAft>
                <a:spcPts val="1200"/>
              </a:spcAft>
            </a:pPr>
            <a:r>
              <a:rPr sz="1650" b="1">
                <a:solidFill>
                  <a:srgbClr val="7CB342"/>
                </a:solidFill>
                <a:latin typeface="Calibri"/>
              </a:rPr>
              <a:t>•  </a:t>
            </a:r>
            <a:r>
              <a:rPr sz="1650" b="0">
                <a:solidFill>
                  <a:srgbClr val="1F2A24"/>
                </a:solidFill>
                <a:latin typeface="Calibri"/>
              </a:rPr>
              <a:t>Bayam melonjak 3-4x lipat saat cuaca buruk</a:t>
            </a:r>
          </a:p>
          <a:p>
            <a:pPr>
              <a:lnSpc>
                <a:spcPct val="108000"/>
              </a:lnSpc>
              <a:spcAft>
                <a:spcPts val="1200"/>
              </a:spcAft>
            </a:pPr>
            <a:r>
              <a:rPr sz="1650" b="1">
                <a:solidFill>
                  <a:srgbClr val="7CB342"/>
                </a:solidFill>
                <a:latin typeface="Calibri"/>
              </a:rPr>
              <a:t>•  </a:t>
            </a:r>
            <a:r>
              <a:rPr sz="1650" b="0">
                <a:solidFill>
                  <a:srgbClr val="1F2A24"/>
                </a:solidFill>
                <a:latin typeface="Calibri"/>
              </a:rPr>
              <a:t>Belanja sayur: Rp450.000/bulan = Rp5,4 juta/tahun</a:t>
            </a:r>
          </a:p>
          <a:p>
            <a:pPr>
              <a:lnSpc>
                <a:spcPct val="108000"/>
              </a:lnSpc>
              <a:spcAft>
                <a:spcPts val="1200"/>
              </a:spcAft>
            </a:pPr>
            <a:r>
              <a:rPr sz="1650" b="1">
                <a:solidFill>
                  <a:srgbClr val="7CB342"/>
                </a:solidFill>
                <a:latin typeface="Calibri"/>
              </a:rPr>
              <a:t>•  </a:t>
            </a:r>
            <a:r>
              <a:rPr sz="1650" b="0">
                <a:solidFill>
                  <a:srgbClr val="1F2A24"/>
                </a:solidFill>
                <a:latin typeface="Calibri"/>
              </a:rPr>
              <a:t>Harga fluktuatif, sulit diprediksi warga</a:t>
            </a:r>
          </a:p>
        </p:txBody>
      </p:sp>
      <p:sp>
        <p:nvSpPr>
          <p:cNvPr id="5" name="Rounded Rectangle 4"/>
          <p:cNvSpPr/>
          <p:nvPr/>
        </p:nvSpPr>
        <p:spPr>
          <a:xfrm>
            <a:off x="7452360" y="1600200"/>
            <a:ext cx="4069080" cy="251460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icon_dompet_409x240.jpg"/>
          <p:cNvPicPr>
            <a:picLocks noChangeAspect="1"/>
          </p:cNvPicPr>
          <p:nvPr/>
        </p:nvPicPr>
        <p:blipFill>
          <a:blip r:embed="rId2"/>
          <a:stretch>
            <a:fillRect/>
          </a:stretch>
        </p:blipFill>
        <p:spPr>
          <a:xfrm>
            <a:off x="7616952" y="1764792"/>
            <a:ext cx="3739896" cy="2194560"/>
          </a:xfrm>
          <a:prstGeom prst="roundRect">
            <a:avLst>
              <a:gd name="adj" fmla="val 7000"/>
            </a:avLst>
          </a:prstGeom>
        </p:spPr>
      </p:pic>
      <p:sp>
        <p:nvSpPr>
          <p:cNvPr id="7" name="Rounded Rectangle 6"/>
          <p:cNvSpPr/>
          <p:nvPr/>
        </p:nvSpPr>
        <p:spPr>
          <a:xfrm>
            <a:off x="7452360" y="4297680"/>
            <a:ext cx="4069080" cy="914400"/>
          </a:xfrm>
          <a:prstGeom prst="roundRect">
            <a:avLst>
              <a:gd name="adj" fmla="val 6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680960" y="4407408"/>
            <a:ext cx="3611880" cy="384048"/>
          </a:xfrm>
          <a:prstGeom prst="rect">
            <a:avLst/>
          </a:prstGeom>
          <a:noFill/>
        </p:spPr>
        <p:txBody>
          <a:bodyPr wrap="square" anchor="t">
            <a:spAutoFit/>
          </a:bodyPr>
          <a:lstStyle/>
          <a:p>
            <a:pPr algn="l">
              <a:lnSpc>
                <a:spcPct val="105000"/>
              </a:lnSpc>
              <a:spcAft>
                <a:spcPts val="0"/>
              </a:spcAft>
            </a:pPr>
            <a:r>
              <a:rPr sz="2000" b="1">
                <a:solidFill>
                  <a:srgbClr val="2E7D32"/>
                </a:solidFill>
                <a:latin typeface="Calibri"/>
              </a:rPr>
              <a:t>Rp130.000</a:t>
            </a:r>
          </a:p>
        </p:txBody>
      </p:sp>
      <p:sp>
        <p:nvSpPr>
          <p:cNvPr id="9" name="TextBox 8"/>
          <p:cNvSpPr txBox="1"/>
          <p:nvPr/>
        </p:nvSpPr>
        <p:spPr>
          <a:xfrm>
            <a:off x="7680960" y="4791456"/>
            <a:ext cx="3611880" cy="365760"/>
          </a:xfrm>
          <a:prstGeom prst="rect">
            <a:avLst/>
          </a:prstGeom>
          <a:noFill/>
        </p:spPr>
        <p:txBody>
          <a:bodyPr wrap="square" anchor="t">
            <a:spAutoFit/>
          </a:bodyPr>
          <a:lstStyle/>
          <a:p>
            <a:pPr algn="l">
              <a:lnSpc>
                <a:spcPct val="100000"/>
              </a:lnSpc>
              <a:spcAft>
                <a:spcPts val="0"/>
              </a:spcAft>
            </a:pPr>
            <a:r>
              <a:rPr sz="1150" b="0">
                <a:solidFill>
                  <a:srgbClr val="5C6B60"/>
                </a:solidFill>
                <a:latin typeface="Calibri"/>
              </a:rPr>
              <a:t>puncak harga cabai rawit per kg (2026)</a:t>
            </a:r>
          </a:p>
        </p:txBody>
      </p:sp>
      <p:sp>
        <p:nvSpPr>
          <p:cNvPr id="10" name="Rounded Rectangle 9"/>
          <p:cNvSpPr/>
          <p:nvPr/>
        </p:nvSpPr>
        <p:spPr>
          <a:xfrm>
            <a:off x="7452360" y="5349240"/>
            <a:ext cx="4069080" cy="914400"/>
          </a:xfrm>
          <a:prstGeom prst="roundRect">
            <a:avLst>
              <a:gd name="adj" fmla="val 6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680960" y="5458968"/>
            <a:ext cx="3611880" cy="384048"/>
          </a:xfrm>
          <a:prstGeom prst="rect">
            <a:avLst/>
          </a:prstGeom>
          <a:noFill/>
        </p:spPr>
        <p:txBody>
          <a:bodyPr wrap="square" anchor="t">
            <a:spAutoFit/>
          </a:bodyPr>
          <a:lstStyle/>
          <a:p>
            <a:pPr algn="l">
              <a:lnSpc>
                <a:spcPct val="105000"/>
              </a:lnSpc>
              <a:spcAft>
                <a:spcPts val="0"/>
              </a:spcAft>
            </a:pPr>
            <a:r>
              <a:rPr sz="2000" b="1">
                <a:solidFill>
                  <a:srgbClr val="2E7D32"/>
                </a:solidFill>
                <a:latin typeface="Calibri"/>
              </a:rPr>
              <a:t>Rp5,4 jt</a:t>
            </a:r>
          </a:p>
        </p:txBody>
      </p:sp>
      <p:sp>
        <p:nvSpPr>
          <p:cNvPr id="12" name="TextBox 11"/>
          <p:cNvSpPr txBox="1"/>
          <p:nvPr/>
        </p:nvSpPr>
        <p:spPr>
          <a:xfrm>
            <a:off x="7680960" y="5843016"/>
            <a:ext cx="3611880" cy="365760"/>
          </a:xfrm>
          <a:prstGeom prst="rect">
            <a:avLst/>
          </a:prstGeom>
          <a:noFill/>
        </p:spPr>
        <p:txBody>
          <a:bodyPr wrap="square" anchor="t">
            <a:spAutoFit/>
          </a:bodyPr>
          <a:lstStyle/>
          <a:p>
            <a:pPr algn="l">
              <a:lnSpc>
                <a:spcPct val="100000"/>
              </a:lnSpc>
              <a:spcAft>
                <a:spcPts val="0"/>
              </a:spcAft>
            </a:pPr>
            <a:r>
              <a:rPr sz="1150" b="0">
                <a:solidFill>
                  <a:srgbClr val="5C6B60"/>
                </a:solidFill>
                <a:latin typeface="Calibri"/>
              </a:rPr>
              <a:t>belanja sayur per keluarga/tahun</a:t>
            </a:r>
          </a:p>
        </p:txBody>
      </p:sp>
      <p:sp>
        <p:nvSpPr>
          <p:cNvPr id="13" name="TextBox 12"/>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4" name="TextBox 13"/>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Satu Solusi, Dua Masalah Terpecahkan</a:t>
            </a:r>
          </a:p>
        </p:txBody>
      </p:sp>
      <p:sp>
        <p:nvSpPr>
          <p:cNvPr id="3" name="TextBox 2"/>
          <p:cNvSpPr txBox="1"/>
          <p:nvPr/>
        </p:nvSpPr>
        <p:spPr>
          <a:xfrm>
            <a:off x="640080" y="1188720"/>
            <a:ext cx="10058400" cy="365760"/>
          </a:xfrm>
          <a:prstGeom prst="rect">
            <a:avLst/>
          </a:prstGeom>
          <a:noFill/>
        </p:spPr>
        <p:txBody>
          <a:bodyPr wrap="square" anchor="t">
            <a:spAutoFit/>
          </a:bodyPr>
          <a:lstStyle/>
          <a:p>
            <a:pPr algn="l">
              <a:lnSpc>
                <a:spcPct val="105000"/>
              </a:lnSpc>
              <a:spcAft>
                <a:spcPts val="0"/>
              </a:spcAft>
            </a:pPr>
            <a:r>
              <a:rPr sz="1700" b="0">
                <a:solidFill>
                  <a:srgbClr val="5C6B60"/>
                </a:solidFill>
                <a:latin typeface="Calibri"/>
              </a:rPr>
              <a:t>Integration Farmer: kemitraan warga untuk urban farming berbasis sampah organik</a:t>
            </a:r>
          </a:p>
        </p:txBody>
      </p:sp>
      <p:sp>
        <p:nvSpPr>
          <p:cNvPr id="4" name="Rounded Rectangle 3"/>
          <p:cNvSpPr/>
          <p:nvPr/>
        </p:nvSpPr>
        <p:spPr>
          <a:xfrm>
            <a:off x="640080" y="1591056"/>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40080" y="2057400"/>
            <a:ext cx="5943600" cy="3931920"/>
          </a:xfrm>
          <a:prstGeom prst="rect">
            <a:avLst/>
          </a:prstGeom>
          <a:noFill/>
        </p:spPr>
        <p:txBody>
          <a:bodyPr wrap="square" anchor="t">
            <a:spAutoFit/>
          </a:bodyPr>
          <a:lstStyle/>
          <a:p>
            <a:pPr>
              <a:lnSpc>
                <a:spcPct val="108000"/>
              </a:lnSpc>
              <a:spcAft>
                <a:spcPts val="1200"/>
              </a:spcAft>
            </a:pPr>
            <a:r>
              <a:rPr sz="1650" b="1">
                <a:solidFill>
                  <a:srgbClr val="7CB342"/>
                </a:solidFill>
                <a:latin typeface="Calibri"/>
              </a:rPr>
              <a:t>•  </a:t>
            </a:r>
            <a:r>
              <a:rPr sz="1650" b="0">
                <a:solidFill>
                  <a:srgbClr val="1F2A24"/>
                </a:solidFill>
                <a:latin typeface="Calibri"/>
              </a:rPr>
              <a:t>Sampah organik diolah menjadi kompos di rumah</a:t>
            </a:r>
          </a:p>
          <a:p>
            <a:pPr>
              <a:lnSpc>
                <a:spcPct val="108000"/>
              </a:lnSpc>
              <a:spcAft>
                <a:spcPts val="1200"/>
              </a:spcAft>
            </a:pPr>
            <a:r>
              <a:rPr sz="1650" b="1">
                <a:solidFill>
                  <a:srgbClr val="7CB342"/>
                </a:solidFill>
                <a:latin typeface="Calibri"/>
              </a:rPr>
              <a:t>•  </a:t>
            </a:r>
            <a:r>
              <a:rPr sz="1650" b="0">
                <a:solidFill>
                  <a:srgbClr val="1F2A24"/>
                </a:solidFill>
                <a:latin typeface="Calibri"/>
              </a:rPr>
              <a:t>Kompos menyuburkan sayur &amp; bumbu dapur</a:t>
            </a:r>
          </a:p>
          <a:p>
            <a:pPr>
              <a:lnSpc>
                <a:spcPct val="108000"/>
              </a:lnSpc>
              <a:spcAft>
                <a:spcPts val="1200"/>
              </a:spcAft>
            </a:pPr>
            <a:r>
              <a:rPr sz="1650" b="1">
                <a:solidFill>
                  <a:srgbClr val="7CB342"/>
                </a:solidFill>
                <a:latin typeface="Calibri"/>
              </a:rPr>
              <a:t>•  </a:t>
            </a:r>
            <a:r>
              <a:rPr sz="1650" b="0">
                <a:solidFill>
                  <a:srgbClr val="1F2A24"/>
                </a:solidFill>
                <a:latin typeface="Calibri"/>
              </a:rPr>
              <a:t>Ditanam di halaman rumah atau lahan komunal</a:t>
            </a:r>
          </a:p>
          <a:p>
            <a:pPr>
              <a:lnSpc>
                <a:spcPct val="108000"/>
              </a:lnSpc>
              <a:spcAft>
                <a:spcPts val="1200"/>
              </a:spcAft>
            </a:pPr>
            <a:r>
              <a:rPr sz="1650" b="1">
                <a:solidFill>
                  <a:srgbClr val="7CB342"/>
                </a:solidFill>
                <a:latin typeface="Calibri"/>
              </a:rPr>
              <a:t>•  </a:t>
            </a:r>
            <a:r>
              <a:rPr sz="1650" b="0">
                <a:solidFill>
                  <a:srgbClr val="1F2A24"/>
                </a:solidFill>
                <a:latin typeface="Calibri"/>
              </a:rPr>
              <a:t>Model inti-plasma sederhana ala komunitas</a:t>
            </a:r>
          </a:p>
          <a:p>
            <a:pPr>
              <a:lnSpc>
                <a:spcPct val="108000"/>
              </a:lnSpc>
              <a:spcAft>
                <a:spcPts val="1200"/>
              </a:spcAft>
            </a:pPr>
            <a:r>
              <a:rPr sz="1650" b="1">
                <a:solidFill>
                  <a:srgbClr val="7CB342"/>
                </a:solidFill>
                <a:latin typeface="Calibri"/>
              </a:rPr>
              <a:t>•  </a:t>
            </a:r>
            <a:r>
              <a:rPr sz="1650" b="0">
                <a:solidFill>
                  <a:srgbClr val="1F2A24"/>
                </a:solidFill>
                <a:latin typeface="Calibri"/>
              </a:rPr>
              <a:t>Hasil panen untuk konsumsi &amp; dijual warga</a:t>
            </a:r>
          </a:p>
        </p:txBody>
      </p:sp>
      <p:sp>
        <p:nvSpPr>
          <p:cNvPr id="6" name="Rounded Rectangle 5"/>
          <p:cNvSpPr/>
          <p:nvPr/>
        </p:nvSpPr>
        <p:spPr>
          <a:xfrm>
            <a:off x="6903720" y="1874519"/>
            <a:ext cx="4663440" cy="416052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panen_470x415.jpg"/>
          <p:cNvPicPr>
            <a:picLocks noChangeAspect="1"/>
          </p:cNvPicPr>
          <p:nvPr/>
        </p:nvPicPr>
        <p:blipFill>
          <a:blip r:embed="rId2"/>
          <a:stretch>
            <a:fillRect/>
          </a:stretch>
        </p:blipFill>
        <p:spPr>
          <a:xfrm>
            <a:off x="7086600" y="2057400"/>
            <a:ext cx="4297680" cy="3794760"/>
          </a:xfrm>
          <a:prstGeom prst="roundRect">
            <a:avLst>
              <a:gd name="adj" fmla="val 7000"/>
            </a:avLst>
          </a:prstGeom>
        </p:spPr>
      </p:pic>
      <p:sp>
        <p:nvSpPr>
          <p:cNvPr id="8" name="TextBox 7"/>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9" name="TextBox 8"/>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Tiga Tujuan, Tiga Manfaat Langsung</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640080" y="1554480"/>
            <a:ext cx="3423818" cy="45720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 name="Picture 4" descr="pillar_sosial_338x178.jpg"/>
          <p:cNvPicPr>
            <a:picLocks noChangeAspect="1"/>
          </p:cNvPicPr>
          <p:nvPr/>
        </p:nvPicPr>
        <p:blipFill>
          <a:blip r:embed="rId2"/>
          <a:stretch>
            <a:fillRect/>
          </a:stretch>
        </p:blipFill>
        <p:spPr>
          <a:xfrm>
            <a:off x="804671" y="1719072"/>
            <a:ext cx="3094634" cy="1627632"/>
          </a:xfrm>
          <a:prstGeom prst="roundRect">
            <a:avLst>
              <a:gd name="adj" fmla="val 7000"/>
            </a:avLst>
          </a:prstGeom>
        </p:spPr>
      </p:pic>
      <p:sp>
        <p:nvSpPr>
          <p:cNvPr id="6" name="TextBox 5"/>
          <p:cNvSpPr txBox="1"/>
          <p:nvPr/>
        </p:nvSpPr>
        <p:spPr>
          <a:xfrm>
            <a:off x="822959" y="3493008"/>
            <a:ext cx="3058058" cy="411480"/>
          </a:xfrm>
          <a:prstGeom prst="rect">
            <a:avLst/>
          </a:prstGeom>
          <a:noFill/>
        </p:spPr>
        <p:txBody>
          <a:bodyPr wrap="square" anchor="t">
            <a:spAutoFit/>
          </a:bodyPr>
          <a:lstStyle/>
          <a:p>
            <a:pPr algn="ctr">
              <a:lnSpc>
                <a:spcPct val="105000"/>
              </a:lnSpc>
              <a:spcAft>
                <a:spcPts val="0"/>
              </a:spcAft>
            </a:pPr>
            <a:r>
              <a:rPr sz="2000" b="1">
                <a:solidFill>
                  <a:srgbClr val="1B5E20"/>
                </a:solidFill>
                <a:latin typeface="Calibri"/>
              </a:rPr>
              <a:t>Sosial</a:t>
            </a:r>
          </a:p>
        </p:txBody>
      </p:sp>
      <p:sp>
        <p:nvSpPr>
          <p:cNvPr id="7" name="Rounded Rectangle 6"/>
          <p:cNvSpPr/>
          <p:nvPr/>
        </p:nvSpPr>
        <p:spPr>
          <a:xfrm>
            <a:off x="1940509" y="3968496"/>
            <a:ext cx="822960" cy="50292"/>
          </a:xfrm>
          <a:prstGeom prst="roundRect">
            <a:avLst>
              <a:gd name="adj" fmla="val 5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60119" y="4206240"/>
            <a:ext cx="2829458" cy="1737360"/>
          </a:xfrm>
          <a:prstGeom prst="rect">
            <a:avLst/>
          </a:prstGeom>
          <a:noFill/>
        </p:spPr>
        <p:txBody>
          <a:bodyPr wrap="square" anchor="t">
            <a:spAutoFit/>
          </a:bodyPr>
          <a:lstStyle/>
          <a:p>
            <a:pPr>
              <a:lnSpc>
                <a:spcPct val="108000"/>
              </a:lnSpc>
              <a:spcAft>
                <a:spcPts val="700"/>
              </a:spcAft>
            </a:pPr>
            <a:r>
              <a:rPr sz="1350" b="1">
                <a:solidFill>
                  <a:srgbClr val="7CB342"/>
                </a:solidFill>
                <a:latin typeface="Calibri"/>
              </a:rPr>
              <a:t>•  </a:t>
            </a:r>
            <a:r>
              <a:rPr sz="1350" b="0">
                <a:solidFill>
                  <a:srgbClr val="1F2A24"/>
                </a:solidFill>
                <a:latin typeface="Calibri"/>
              </a:rPr>
              <a:t>Kebersamaan &amp; gotong royong</a:t>
            </a:r>
          </a:p>
          <a:p>
            <a:pPr>
              <a:lnSpc>
                <a:spcPct val="108000"/>
              </a:lnSpc>
              <a:spcAft>
                <a:spcPts val="700"/>
              </a:spcAft>
            </a:pPr>
            <a:r>
              <a:rPr sz="1350" b="1">
                <a:solidFill>
                  <a:srgbClr val="7CB342"/>
                </a:solidFill>
                <a:latin typeface="Calibri"/>
              </a:rPr>
              <a:t>•  </a:t>
            </a:r>
            <a:r>
              <a:rPr sz="1350" b="0">
                <a:solidFill>
                  <a:srgbClr val="1F2A24"/>
                </a:solidFill>
                <a:latin typeface="Calibri"/>
              </a:rPr>
              <a:t>Musyawarah rutin tiap bulan</a:t>
            </a:r>
          </a:p>
          <a:p>
            <a:pPr>
              <a:lnSpc>
                <a:spcPct val="108000"/>
              </a:lnSpc>
              <a:spcAft>
                <a:spcPts val="700"/>
              </a:spcAft>
            </a:pPr>
            <a:r>
              <a:rPr sz="1350" b="1">
                <a:solidFill>
                  <a:srgbClr val="7CB342"/>
                </a:solidFill>
                <a:latin typeface="Calibri"/>
              </a:rPr>
              <a:t>•  </a:t>
            </a:r>
            <a:r>
              <a:rPr sz="1350" b="0">
                <a:solidFill>
                  <a:srgbClr val="1F2A24"/>
                </a:solidFill>
                <a:latin typeface="Calibri"/>
              </a:rPr>
              <a:t>Kohosi warga makin kuat</a:t>
            </a:r>
          </a:p>
        </p:txBody>
      </p:sp>
      <p:sp>
        <p:nvSpPr>
          <p:cNvPr id="9" name="Rounded Rectangle 8"/>
          <p:cNvSpPr/>
          <p:nvPr/>
        </p:nvSpPr>
        <p:spPr>
          <a:xfrm>
            <a:off x="4383938" y="1554480"/>
            <a:ext cx="3423818" cy="45720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 name="Picture 9" descr="pillar_ekonomi_338x178.jpg"/>
          <p:cNvPicPr>
            <a:picLocks noChangeAspect="1"/>
          </p:cNvPicPr>
          <p:nvPr/>
        </p:nvPicPr>
        <p:blipFill>
          <a:blip r:embed="rId3"/>
          <a:stretch>
            <a:fillRect/>
          </a:stretch>
        </p:blipFill>
        <p:spPr>
          <a:xfrm>
            <a:off x="4548530" y="1719072"/>
            <a:ext cx="3094634" cy="1627632"/>
          </a:xfrm>
          <a:prstGeom prst="roundRect">
            <a:avLst>
              <a:gd name="adj" fmla="val 7000"/>
            </a:avLst>
          </a:prstGeom>
        </p:spPr>
      </p:pic>
      <p:sp>
        <p:nvSpPr>
          <p:cNvPr id="11" name="TextBox 10"/>
          <p:cNvSpPr txBox="1"/>
          <p:nvPr/>
        </p:nvSpPr>
        <p:spPr>
          <a:xfrm>
            <a:off x="4566818" y="3493008"/>
            <a:ext cx="3058058" cy="411480"/>
          </a:xfrm>
          <a:prstGeom prst="rect">
            <a:avLst/>
          </a:prstGeom>
          <a:noFill/>
        </p:spPr>
        <p:txBody>
          <a:bodyPr wrap="square" anchor="t">
            <a:spAutoFit/>
          </a:bodyPr>
          <a:lstStyle/>
          <a:p>
            <a:pPr algn="ctr">
              <a:lnSpc>
                <a:spcPct val="105000"/>
              </a:lnSpc>
              <a:spcAft>
                <a:spcPts val="0"/>
              </a:spcAft>
            </a:pPr>
            <a:r>
              <a:rPr sz="2000" b="1">
                <a:solidFill>
                  <a:srgbClr val="1B5E20"/>
                </a:solidFill>
                <a:latin typeface="Calibri"/>
              </a:rPr>
              <a:t>Ekonomi</a:t>
            </a:r>
          </a:p>
        </p:txBody>
      </p:sp>
      <p:sp>
        <p:nvSpPr>
          <p:cNvPr id="12" name="Rounded Rectangle 11"/>
          <p:cNvSpPr/>
          <p:nvPr/>
        </p:nvSpPr>
        <p:spPr>
          <a:xfrm>
            <a:off x="5684367" y="3968496"/>
            <a:ext cx="822960" cy="50292"/>
          </a:xfrm>
          <a:prstGeom prst="roundRect">
            <a:avLst>
              <a:gd name="adj" fmla="val 5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703978" y="4206240"/>
            <a:ext cx="2829458" cy="1737360"/>
          </a:xfrm>
          <a:prstGeom prst="rect">
            <a:avLst/>
          </a:prstGeom>
          <a:noFill/>
        </p:spPr>
        <p:txBody>
          <a:bodyPr wrap="square" anchor="t">
            <a:spAutoFit/>
          </a:bodyPr>
          <a:lstStyle/>
          <a:p>
            <a:pPr>
              <a:lnSpc>
                <a:spcPct val="108000"/>
              </a:lnSpc>
              <a:spcAft>
                <a:spcPts val="700"/>
              </a:spcAft>
            </a:pPr>
            <a:r>
              <a:rPr sz="1350" b="1">
                <a:solidFill>
                  <a:srgbClr val="7CB342"/>
                </a:solidFill>
                <a:latin typeface="Calibri"/>
              </a:rPr>
              <a:t>•  </a:t>
            </a:r>
            <a:r>
              <a:rPr sz="1350" b="0">
                <a:solidFill>
                  <a:srgbClr val="1F2A24"/>
                </a:solidFill>
                <a:latin typeface="Calibri"/>
              </a:rPr>
              <a:t>Hemat hingga Rp2,7 jt/tahun/KK</a:t>
            </a:r>
          </a:p>
          <a:p>
            <a:pPr>
              <a:lnSpc>
                <a:spcPct val="108000"/>
              </a:lnSpc>
              <a:spcAft>
                <a:spcPts val="700"/>
              </a:spcAft>
            </a:pPr>
            <a:r>
              <a:rPr sz="1350" b="1">
                <a:solidFill>
                  <a:srgbClr val="7CB342"/>
                </a:solidFill>
                <a:latin typeface="Calibri"/>
              </a:rPr>
              <a:t>•  </a:t>
            </a:r>
            <a:r>
              <a:rPr sz="1350" b="0">
                <a:solidFill>
                  <a:srgbClr val="1F2A24"/>
                </a:solidFill>
                <a:latin typeface="Calibri"/>
              </a:rPr>
              <a:t>Panen sayur sendiri</a:t>
            </a:r>
          </a:p>
          <a:p>
            <a:pPr>
              <a:lnSpc>
                <a:spcPct val="108000"/>
              </a:lnSpc>
              <a:spcAft>
                <a:spcPts val="700"/>
              </a:spcAft>
            </a:pPr>
            <a:r>
              <a:rPr sz="1350" b="1">
                <a:solidFill>
                  <a:srgbClr val="7CB342"/>
                </a:solidFill>
                <a:latin typeface="Calibri"/>
              </a:rPr>
              <a:t>•  </a:t>
            </a:r>
            <a:r>
              <a:rPr sz="1350" b="0">
                <a:solidFill>
                  <a:srgbClr val="1F2A24"/>
                </a:solidFill>
                <a:latin typeface="Calibri"/>
              </a:rPr>
              <a:t>Peluang jual ke warga</a:t>
            </a:r>
          </a:p>
        </p:txBody>
      </p:sp>
      <p:sp>
        <p:nvSpPr>
          <p:cNvPr id="14" name="Rounded Rectangle 13"/>
          <p:cNvSpPr/>
          <p:nvPr/>
        </p:nvSpPr>
        <p:spPr>
          <a:xfrm>
            <a:off x="8127796" y="1554480"/>
            <a:ext cx="3423818" cy="45720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5" name="Picture 14" descr="pillar_lingkungan_338x178.jpg"/>
          <p:cNvPicPr>
            <a:picLocks noChangeAspect="1"/>
          </p:cNvPicPr>
          <p:nvPr/>
        </p:nvPicPr>
        <p:blipFill>
          <a:blip r:embed="rId4"/>
          <a:stretch>
            <a:fillRect/>
          </a:stretch>
        </p:blipFill>
        <p:spPr>
          <a:xfrm>
            <a:off x="8292388" y="1719072"/>
            <a:ext cx="3094634" cy="1627632"/>
          </a:xfrm>
          <a:prstGeom prst="roundRect">
            <a:avLst>
              <a:gd name="adj" fmla="val 7000"/>
            </a:avLst>
          </a:prstGeom>
        </p:spPr>
      </p:pic>
      <p:sp>
        <p:nvSpPr>
          <p:cNvPr id="16" name="TextBox 15"/>
          <p:cNvSpPr txBox="1"/>
          <p:nvPr/>
        </p:nvSpPr>
        <p:spPr>
          <a:xfrm>
            <a:off x="8310676" y="3493008"/>
            <a:ext cx="3058058" cy="411480"/>
          </a:xfrm>
          <a:prstGeom prst="rect">
            <a:avLst/>
          </a:prstGeom>
          <a:noFill/>
        </p:spPr>
        <p:txBody>
          <a:bodyPr wrap="square" anchor="t">
            <a:spAutoFit/>
          </a:bodyPr>
          <a:lstStyle/>
          <a:p>
            <a:pPr algn="ctr">
              <a:lnSpc>
                <a:spcPct val="105000"/>
              </a:lnSpc>
              <a:spcAft>
                <a:spcPts val="0"/>
              </a:spcAft>
            </a:pPr>
            <a:r>
              <a:rPr sz="2000" b="1">
                <a:solidFill>
                  <a:srgbClr val="1B5E20"/>
                </a:solidFill>
                <a:latin typeface="Calibri"/>
              </a:rPr>
              <a:t>Lingkungan</a:t>
            </a:r>
          </a:p>
        </p:txBody>
      </p:sp>
      <p:sp>
        <p:nvSpPr>
          <p:cNvPr id="17" name="Rounded Rectangle 16"/>
          <p:cNvSpPr/>
          <p:nvPr/>
        </p:nvSpPr>
        <p:spPr>
          <a:xfrm>
            <a:off x="9428226" y="3968496"/>
            <a:ext cx="822960" cy="50292"/>
          </a:xfrm>
          <a:prstGeom prst="roundRect">
            <a:avLst>
              <a:gd name="adj" fmla="val 5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447836" y="4206240"/>
            <a:ext cx="2829458" cy="1737360"/>
          </a:xfrm>
          <a:prstGeom prst="rect">
            <a:avLst/>
          </a:prstGeom>
          <a:noFill/>
        </p:spPr>
        <p:txBody>
          <a:bodyPr wrap="square" anchor="t">
            <a:spAutoFit/>
          </a:bodyPr>
          <a:lstStyle/>
          <a:p>
            <a:pPr>
              <a:lnSpc>
                <a:spcPct val="108000"/>
              </a:lnSpc>
              <a:spcAft>
                <a:spcPts val="700"/>
              </a:spcAft>
            </a:pPr>
            <a:r>
              <a:rPr sz="1350" b="1">
                <a:solidFill>
                  <a:srgbClr val="7CB342"/>
                </a:solidFill>
                <a:latin typeface="Calibri"/>
              </a:rPr>
              <a:t>•  </a:t>
            </a:r>
            <a:r>
              <a:rPr sz="1350" b="0">
                <a:solidFill>
                  <a:srgbClr val="1F2A24"/>
                </a:solidFill>
                <a:latin typeface="Calibri"/>
              </a:rPr>
              <a:t>Sampah turun 21-42%</a:t>
            </a:r>
          </a:p>
          <a:p>
            <a:pPr>
              <a:lnSpc>
                <a:spcPct val="108000"/>
              </a:lnSpc>
              <a:spcAft>
                <a:spcPts val="700"/>
              </a:spcAft>
            </a:pPr>
            <a:r>
              <a:rPr sz="1350" b="1">
                <a:solidFill>
                  <a:srgbClr val="7CB342"/>
                </a:solidFill>
                <a:latin typeface="Calibri"/>
              </a:rPr>
              <a:t>•  </a:t>
            </a:r>
            <a:r>
              <a:rPr sz="1350" b="0">
                <a:solidFill>
                  <a:srgbClr val="1F2A24"/>
                </a:solidFill>
                <a:latin typeface="Calibri"/>
              </a:rPr>
              <a:t>Bebas bau &amp; asap bakar</a:t>
            </a:r>
          </a:p>
          <a:p>
            <a:pPr>
              <a:lnSpc>
                <a:spcPct val="108000"/>
              </a:lnSpc>
              <a:spcAft>
                <a:spcPts val="700"/>
              </a:spcAft>
            </a:pPr>
            <a:r>
              <a:rPr sz="1350" b="1">
                <a:solidFill>
                  <a:srgbClr val="7CB342"/>
                </a:solidFill>
                <a:latin typeface="Calibri"/>
              </a:rPr>
              <a:t>•  </a:t>
            </a:r>
            <a:r>
              <a:rPr sz="1350" b="0">
                <a:solidFill>
                  <a:srgbClr val="1F2A24"/>
                </a:solidFill>
                <a:latin typeface="Calibri"/>
              </a:rPr>
              <a:t>Halaman hijau &amp; sejuk</a:t>
            </a:r>
          </a:p>
        </p:txBody>
      </p:sp>
      <p:sp>
        <p:nvSpPr>
          <p:cNvPr id="19" name="TextBox 18"/>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20" name="TextBox 19"/>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Mekanisme Kerja: Siklus Integration Farmer</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 name="Picture 3" descr="cycle_mosaic_1110x405.jpg"/>
          <p:cNvPicPr>
            <a:picLocks noChangeAspect="1"/>
          </p:cNvPicPr>
          <p:nvPr/>
        </p:nvPicPr>
        <p:blipFill>
          <a:blip r:embed="rId2"/>
          <a:stretch>
            <a:fillRect/>
          </a:stretch>
        </p:blipFill>
        <p:spPr>
          <a:xfrm>
            <a:off x="1005840" y="1508760"/>
            <a:ext cx="10149840" cy="3703320"/>
          </a:xfrm>
          <a:prstGeom prst="roundRect">
            <a:avLst>
              <a:gd name="adj" fmla="val 5000"/>
            </a:avLst>
          </a:prstGeom>
        </p:spPr>
      </p:pic>
      <p:sp>
        <p:nvSpPr>
          <p:cNvPr id="5" name="Rounded Rectangle 4"/>
          <p:cNvSpPr/>
          <p:nvPr/>
        </p:nvSpPr>
        <p:spPr>
          <a:xfrm>
            <a:off x="640080" y="5349240"/>
            <a:ext cx="2556433" cy="777240"/>
          </a:xfrm>
          <a:prstGeom prst="roundRect">
            <a:avLst>
              <a:gd name="adj" fmla="val 50000"/>
            </a:avLst>
          </a:prstGeom>
          <a:solidFill>
            <a:srgbClr val="F4F8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5E20"/>
                </a:solidFill>
                <a:latin typeface="Calibri"/>
              </a:rPr>
              <a:t>1. Kumpulkan sampah dapur setiap hari</a:t>
            </a:r>
          </a:p>
        </p:txBody>
      </p:sp>
      <p:sp>
        <p:nvSpPr>
          <p:cNvPr id="6" name="Rounded Rectangle 5"/>
          <p:cNvSpPr/>
          <p:nvPr/>
        </p:nvSpPr>
        <p:spPr>
          <a:xfrm>
            <a:off x="3425113" y="5349240"/>
            <a:ext cx="2556433" cy="777240"/>
          </a:xfrm>
          <a:prstGeom prst="roundRect">
            <a:avLst>
              <a:gd name="adj" fmla="val 50000"/>
            </a:avLst>
          </a:prstGeom>
          <a:solidFill>
            <a:srgbClr val="F4F8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5E20"/>
                </a:solidFill>
                <a:latin typeface="Calibri"/>
              </a:rPr>
              <a:t>2. Komposkan 30-45 hari sampai matang</a:t>
            </a:r>
          </a:p>
        </p:txBody>
      </p:sp>
      <p:sp>
        <p:nvSpPr>
          <p:cNvPr id="7" name="Rounded Rectangle 6"/>
          <p:cNvSpPr/>
          <p:nvPr/>
        </p:nvSpPr>
        <p:spPr>
          <a:xfrm>
            <a:off x="6210147" y="5349240"/>
            <a:ext cx="2556433" cy="777240"/>
          </a:xfrm>
          <a:prstGeom prst="roundRect">
            <a:avLst>
              <a:gd name="adj" fmla="val 50000"/>
            </a:avLst>
          </a:prstGeom>
          <a:solidFill>
            <a:srgbClr val="F4F8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5E20"/>
                </a:solidFill>
                <a:latin typeface="Calibri"/>
              </a:rPr>
              <a:t>3. Tanam sayur &amp; bumbu dengan kompos</a:t>
            </a:r>
          </a:p>
        </p:txBody>
      </p:sp>
      <p:sp>
        <p:nvSpPr>
          <p:cNvPr id="8" name="Rounded Rectangle 7"/>
          <p:cNvSpPr/>
          <p:nvPr/>
        </p:nvSpPr>
        <p:spPr>
          <a:xfrm>
            <a:off x="8995181" y="5349240"/>
            <a:ext cx="2556433" cy="777240"/>
          </a:xfrm>
          <a:prstGeom prst="roundRect">
            <a:avLst>
              <a:gd name="adj" fmla="val 50000"/>
            </a:avLst>
          </a:prstGeom>
          <a:solidFill>
            <a:srgbClr val="F4F8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5E20"/>
                </a:solidFill>
                <a:latin typeface="Calibri"/>
              </a:rPr>
              <a:t>4. Panen, nikmati, jual - sisanya ulangi</a:t>
            </a:r>
          </a:p>
        </p:txBody>
      </p:sp>
      <p:sp>
        <p:nvSpPr>
          <p:cNvPr id="9" name="TextBox 8"/>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0" name="TextBox 9"/>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Skema Kemitraan Inti-Plasma Sederhana</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457200" y="1554480"/>
            <a:ext cx="3959352" cy="3977639"/>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457200" y="1554480"/>
            <a:ext cx="3959352" cy="566928"/>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FFFFFF"/>
                </a:solidFill>
                <a:latin typeface="Calibri"/>
              </a:rPr>
              <a:t>INTI - Penggerak (Pengurus/Pemuda RT)</a:t>
            </a:r>
          </a:p>
        </p:txBody>
      </p:sp>
      <p:sp>
        <p:nvSpPr>
          <p:cNvPr id="6" name="TextBox 5"/>
          <p:cNvSpPr txBox="1"/>
          <p:nvPr/>
        </p:nvSpPr>
        <p:spPr>
          <a:xfrm>
            <a:off x="749808" y="2331720"/>
            <a:ext cx="3410712" cy="3017520"/>
          </a:xfrm>
          <a:prstGeom prst="rect">
            <a:avLst/>
          </a:prstGeom>
          <a:noFill/>
        </p:spPr>
        <p:txBody>
          <a:bodyPr wrap="square" anchor="t">
            <a:spAutoFit/>
          </a:bodyPr>
          <a:lstStyle/>
          <a:p>
            <a:pPr>
              <a:lnSpc>
                <a:spcPct val="108000"/>
              </a:lnSpc>
              <a:spcAft>
                <a:spcPts val="800"/>
              </a:spcAft>
            </a:pPr>
            <a:r>
              <a:rPr sz="1350" b="1">
                <a:solidFill>
                  <a:srgbClr val="7CB342"/>
                </a:solidFill>
                <a:latin typeface="Calibri"/>
              </a:rPr>
              <a:t>•  </a:t>
            </a:r>
            <a:r>
              <a:rPr sz="1350" b="0">
                <a:solidFill>
                  <a:srgbClr val="1F2A24"/>
                </a:solidFill>
                <a:latin typeface="Calibri"/>
              </a:rPr>
              <a:t>Sediakan komposter &amp; alat bersama</a:t>
            </a:r>
          </a:p>
          <a:p>
            <a:pPr>
              <a:lnSpc>
                <a:spcPct val="108000"/>
              </a:lnSpc>
              <a:spcAft>
                <a:spcPts val="800"/>
              </a:spcAft>
            </a:pPr>
            <a:r>
              <a:rPr sz="1350" b="1">
                <a:solidFill>
                  <a:srgbClr val="7CB342"/>
                </a:solidFill>
                <a:latin typeface="Calibri"/>
              </a:rPr>
              <a:t>•  </a:t>
            </a:r>
            <a:r>
              <a:rPr sz="1350" b="0">
                <a:solidFill>
                  <a:srgbClr val="1F2A24"/>
                </a:solidFill>
                <a:latin typeface="Calibri"/>
              </a:rPr>
              <a:t>Kelola kas program &amp; pengadaan bibit</a:t>
            </a:r>
          </a:p>
          <a:p>
            <a:pPr>
              <a:lnSpc>
                <a:spcPct val="108000"/>
              </a:lnSpc>
              <a:spcAft>
                <a:spcPts val="800"/>
              </a:spcAft>
            </a:pPr>
            <a:r>
              <a:rPr sz="1350" b="1">
                <a:solidFill>
                  <a:srgbClr val="7CB342"/>
                </a:solidFill>
                <a:latin typeface="Calibri"/>
              </a:rPr>
              <a:t>•  </a:t>
            </a:r>
            <a:r>
              <a:rPr sz="1350" b="0">
                <a:solidFill>
                  <a:srgbClr val="1F2A24"/>
                </a:solidFill>
                <a:latin typeface="Calibri"/>
              </a:rPr>
              <a:t>Jadwalkan pelatihan dan pendampingan</a:t>
            </a:r>
          </a:p>
          <a:p>
            <a:pPr>
              <a:lnSpc>
                <a:spcPct val="108000"/>
              </a:lnSpc>
              <a:spcAft>
                <a:spcPts val="800"/>
              </a:spcAft>
            </a:pPr>
            <a:r>
              <a:rPr sz="1350" b="1">
                <a:solidFill>
                  <a:srgbClr val="7CB342"/>
                </a:solidFill>
                <a:latin typeface="Calibri"/>
              </a:rPr>
              <a:t>•  </a:t>
            </a:r>
            <a:r>
              <a:rPr sz="1350" b="0">
                <a:solidFill>
                  <a:srgbClr val="1F2A24"/>
                </a:solidFill>
                <a:latin typeface="Calibri"/>
              </a:rPr>
              <a:t>Pemasaran hasil panen bersama</a:t>
            </a:r>
          </a:p>
        </p:txBody>
      </p:sp>
      <p:sp>
        <p:nvSpPr>
          <p:cNvPr id="7" name="Rounded Rectangle 6"/>
          <p:cNvSpPr/>
          <p:nvPr/>
        </p:nvSpPr>
        <p:spPr>
          <a:xfrm>
            <a:off x="7708392" y="1554480"/>
            <a:ext cx="3959352" cy="3977639"/>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7708392" y="1554480"/>
            <a:ext cx="3959352" cy="566928"/>
          </a:xfrm>
          <a:prstGeom prst="roundRect">
            <a:avLst>
              <a:gd name="adj" fmla="val 12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1F2A24"/>
                </a:solidFill>
                <a:latin typeface="Calibri"/>
              </a:rPr>
              <a:t>PLASMA - KK Peserta (10-20 KK)</a:t>
            </a:r>
          </a:p>
        </p:txBody>
      </p:sp>
      <p:sp>
        <p:nvSpPr>
          <p:cNvPr id="9" name="TextBox 8"/>
          <p:cNvSpPr txBox="1"/>
          <p:nvPr/>
        </p:nvSpPr>
        <p:spPr>
          <a:xfrm>
            <a:off x="8001000" y="2331720"/>
            <a:ext cx="3410712" cy="3017520"/>
          </a:xfrm>
          <a:prstGeom prst="rect">
            <a:avLst/>
          </a:prstGeom>
          <a:noFill/>
        </p:spPr>
        <p:txBody>
          <a:bodyPr wrap="square" anchor="t">
            <a:spAutoFit/>
          </a:bodyPr>
          <a:lstStyle/>
          <a:p>
            <a:pPr>
              <a:lnSpc>
                <a:spcPct val="108000"/>
              </a:lnSpc>
              <a:spcAft>
                <a:spcPts val="800"/>
              </a:spcAft>
            </a:pPr>
            <a:r>
              <a:rPr sz="1350" b="1">
                <a:solidFill>
                  <a:srgbClr val="7CB342"/>
                </a:solidFill>
                <a:latin typeface="Calibri"/>
              </a:rPr>
              <a:t>•  </a:t>
            </a:r>
            <a:r>
              <a:rPr sz="1350" b="0">
                <a:solidFill>
                  <a:srgbClr val="1F2A24"/>
                </a:solidFill>
                <a:latin typeface="Calibri"/>
              </a:rPr>
              <a:t>Sediakan halaman &amp; merawat tanaman</a:t>
            </a:r>
          </a:p>
          <a:p>
            <a:pPr>
              <a:lnSpc>
                <a:spcPct val="108000"/>
              </a:lnSpc>
              <a:spcAft>
                <a:spcPts val="800"/>
              </a:spcAft>
            </a:pPr>
            <a:r>
              <a:rPr sz="1350" b="1">
                <a:solidFill>
                  <a:srgbClr val="7CB342"/>
                </a:solidFill>
                <a:latin typeface="Calibri"/>
              </a:rPr>
              <a:t>•  </a:t>
            </a:r>
            <a:r>
              <a:rPr sz="1350" b="0">
                <a:solidFill>
                  <a:srgbClr val="1F2A24"/>
                </a:solidFill>
                <a:latin typeface="Calibri"/>
              </a:rPr>
              <a:t>Menyetor sampah organik rutin</a:t>
            </a:r>
          </a:p>
          <a:p>
            <a:pPr>
              <a:lnSpc>
                <a:spcPct val="108000"/>
              </a:lnSpc>
              <a:spcAft>
                <a:spcPts val="800"/>
              </a:spcAft>
            </a:pPr>
            <a:r>
              <a:rPr sz="1350" b="1">
                <a:solidFill>
                  <a:srgbClr val="7CB342"/>
                </a:solidFill>
                <a:latin typeface="Calibri"/>
              </a:rPr>
              <a:t>•  </a:t>
            </a:r>
            <a:r>
              <a:rPr sz="1350" b="0">
                <a:solidFill>
                  <a:srgbClr val="1F2A24"/>
                </a:solidFill>
                <a:latin typeface="Calibri"/>
              </a:rPr>
              <a:t>Mengikuti pelatihan &amp; piket kebun</a:t>
            </a:r>
          </a:p>
          <a:p>
            <a:pPr>
              <a:lnSpc>
                <a:spcPct val="108000"/>
              </a:lnSpc>
              <a:spcAft>
                <a:spcPts val="800"/>
              </a:spcAft>
            </a:pPr>
            <a:r>
              <a:rPr sz="1350" b="1">
                <a:solidFill>
                  <a:srgbClr val="7CB342"/>
                </a:solidFill>
                <a:latin typeface="Calibri"/>
              </a:rPr>
              <a:t>•  </a:t>
            </a:r>
            <a:r>
              <a:rPr sz="1350" b="0">
                <a:solidFill>
                  <a:srgbClr val="1F2A24"/>
                </a:solidFill>
                <a:latin typeface="Calibri"/>
              </a:rPr>
              <a:t>Menyerahkan sebagian hasil ke kas</a:t>
            </a:r>
          </a:p>
        </p:txBody>
      </p:sp>
      <p:pic>
        <p:nvPicPr>
          <p:cNvPr id="10" name="Picture 9" descr="partnership_300x434.jpg"/>
          <p:cNvPicPr>
            <a:picLocks noChangeAspect="1"/>
          </p:cNvPicPr>
          <p:nvPr/>
        </p:nvPicPr>
        <p:blipFill>
          <a:blip r:embed="rId2"/>
          <a:stretch>
            <a:fillRect/>
          </a:stretch>
        </p:blipFill>
        <p:spPr>
          <a:xfrm>
            <a:off x="4690872" y="1554480"/>
            <a:ext cx="2743200" cy="3977639"/>
          </a:xfrm>
          <a:prstGeom prst="roundRect">
            <a:avLst>
              <a:gd name="adj" fmla="val 8000"/>
            </a:avLst>
          </a:prstGeom>
        </p:spPr>
      </p:pic>
      <p:sp>
        <p:nvSpPr>
          <p:cNvPr id="11" name="Rounded Rectangle 10"/>
          <p:cNvSpPr/>
          <p:nvPr/>
        </p:nvSpPr>
        <p:spPr>
          <a:xfrm>
            <a:off x="457200" y="5760720"/>
            <a:ext cx="11210544" cy="502920"/>
          </a:xfrm>
          <a:prstGeom prst="roundRect">
            <a:avLst>
              <a:gd name="adj" fmla="val 30000"/>
            </a:avLst>
          </a:prstGeom>
          <a:solidFill>
            <a:srgbClr val="FFF8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B5E20"/>
                </a:solidFill>
                <a:latin typeface="Calibri"/>
              </a:rPr>
              <a:t>Pembagian hasil: 70% untuk KK peserta | 20% kas kelompok (bibit berikutnya) | 10% kas RT/RW</a:t>
            </a:r>
          </a:p>
        </p:txBody>
      </p:sp>
      <p:sp>
        <p:nvSpPr>
          <p:cNvPr id="12" name="TextBox 11"/>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3" name="TextBox 12"/>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Sudah Terbukti di Komunitas Lain</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 name="Picture 3" descr="panen2_1193x218.jpg"/>
          <p:cNvPicPr>
            <a:picLocks noChangeAspect="1"/>
          </p:cNvPicPr>
          <p:nvPr/>
        </p:nvPicPr>
        <p:blipFill>
          <a:blip r:embed="rId2"/>
          <a:stretch>
            <a:fillRect/>
          </a:stretch>
        </p:blipFill>
        <p:spPr>
          <a:xfrm>
            <a:off x="640080" y="1536192"/>
            <a:ext cx="10908792" cy="1993392"/>
          </a:xfrm>
          <a:prstGeom prst="roundRect">
            <a:avLst>
              <a:gd name="adj" fmla="val 7000"/>
            </a:avLst>
          </a:prstGeom>
        </p:spPr>
      </p:pic>
      <p:sp>
        <p:nvSpPr>
          <p:cNvPr id="5" name="Rounded Rectangle 4"/>
          <p:cNvSpPr/>
          <p:nvPr/>
        </p:nvSpPr>
        <p:spPr>
          <a:xfrm>
            <a:off x="640080" y="3767328"/>
            <a:ext cx="3454298" cy="2212848"/>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59" y="3950208"/>
            <a:ext cx="3088538" cy="502920"/>
          </a:xfrm>
          <a:prstGeom prst="rect">
            <a:avLst/>
          </a:prstGeom>
          <a:noFill/>
        </p:spPr>
        <p:txBody>
          <a:bodyPr wrap="square" anchor="t">
            <a:spAutoFit/>
          </a:bodyPr>
          <a:lstStyle/>
          <a:p>
            <a:pPr algn="ctr">
              <a:lnSpc>
                <a:spcPct val="105000"/>
              </a:lnSpc>
              <a:spcAft>
                <a:spcPts val="0"/>
              </a:spcAft>
            </a:pPr>
            <a:r>
              <a:rPr sz="2600" b="1">
                <a:solidFill>
                  <a:srgbClr val="2E7D32"/>
                </a:solidFill>
                <a:latin typeface="Calibri"/>
              </a:rPr>
              <a:t>120 kg</a:t>
            </a:r>
          </a:p>
        </p:txBody>
      </p:sp>
      <p:sp>
        <p:nvSpPr>
          <p:cNvPr id="7" name="TextBox 6"/>
          <p:cNvSpPr txBox="1"/>
          <p:nvPr/>
        </p:nvSpPr>
        <p:spPr>
          <a:xfrm>
            <a:off x="841247" y="4498848"/>
            <a:ext cx="3051962" cy="502920"/>
          </a:xfrm>
          <a:prstGeom prst="rect">
            <a:avLst/>
          </a:prstGeom>
          <a:noFill/>
        </p:spPr>
        <p:txBody>
          <a:bodyPr wrap="square" anchor="t">
            <a:spAutoFit/>
          </a:bodyPr>
          <a:lstStyle/>
          <a:p>
            <a:pPr algn="ctr">
              <a:lnSpc>
                <a:spcPct val="105000"/>
              </a:lnSpc>
              <a:spcAft>
                <a:spcPts val="0"/>
              </a:spcAft>
            </a:pPr>
            <a:r>
              <a:rPr sz="1300" b="1">
                <a:solidFill>
                  <a:srgbClr val="1B5E20"/>
                </a:solidFill>
                <a:latin typeface="Calibri"/>
              </a:rPr>
              <a:t>RW 09 Kalideres, Jakbar</a:t>
            </a:r>
          </a:p>
        </p:txBody>
      </p:sp>
      <p:sp>
        <p:nvSpPr>
          <p:cNvPr id="8" name="TextBox 7"/>
          <p:cNvSpPr txBox="1"/>
          <p:nvPr/>
        </p:nvSpPr>
        <p:spPr>
          <a:xfrm>
            <a:off x="859536" y="5029200"/>
            <a:ext cx="3015386" cy="868680"/>
          </a:xfrm>
          <a:prstGeom prst="rect">
            <a:avLst/>
          </a:prstGeom>
          <a:noFill/>
        </p:spPr>
        <p:txBody>
          <a:bodyPr wrap="square" anchor="t">
            <a:spAutoFit/>
          </a:bodyPr>
          <a:lstStyle/>
          <a:p>
            <a:pPr algn="ctr">
              <a:lnSpc>
                <a:spcPct val="112000"/>
              </a:lnSpc>
              <a:spcAft>
                <a:spcPts val="0"/>
              </a:spcAft>
            </a:pPr>
            <a:r>
              <a:rPr sz="1150" b="0">
                <a:solidFill>
                  <a:srgbClr val="5C6B60"/>
                </a:solidFill>
                <a:latin typeface="Calibri"/>
              </a:rPr>
              <a:t>Panen perdana dari lahan 200 m2 - cesim, pakcoy, kangkung, panen rutin tiap bulan</a:t>
            </a:r>
          </a:p>
        </p:txBody>
      </p:sp>
      <p:sp>
        <p:nvSpPr>
          <p:cNvPr id="9" name="Rounded Rectangle 8"/>
          <p:cNvSpPr/>
          <p:nvPr/>
        </p:nvSpPr>
        <p:spPr>
          <a:xfrm>
            <a:off x="4368698" y="3767328"/>
            <a:ext cx="3454298" cy="2212848"/>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51578" y="3950208"/>
            <a:ext cx="3088538" cy="502920"/>
          </a:xfrm>
          <a:prstGeom prst="rect">
            <a:avLst/>
          </a:prstGeom>
          <a:noFill/>
        </p:spPr>
        <p:txBody>
          <a:bodyPr wrap="square" anchor="t">
            <a:spAutoFit/>
          </a:bodyPr>
          <a:lstStyle/>
          <a:p>
            <a:pPr algn="ctr">
              <a:lnSpc>
                <a:spcPct val="105000"/>
              </a:lnSpc>
              <a:spcAft>
                <a:spcPts val="0"/>
              </a:spcAft>
            </a:pPr>
            <a:r>
              <a:rPr sz="2600" b="1">
                <a:solidFill>
                  <a:srgbClr val="2E7D32"/>
                </a:solidFill>
                <a:latin typeface="Calibri"/>
              </a:rPr>
              <a:t>511 kg</a:t>
            </a:r>
          </a:p>
        </p:txBody>
      </p:sp>
      <p:sp>
        <p:nvSpPr>
          <p:cNvPr id="11" name="TextBox 10"/>
          <p:cNvSpPr txBox="1"/>
          <p:nvPr/>
        </p:nvSpPr>
        <p:spPr>
          <a:xfrm>
            <a:off x="4569866" y="4498848"/>
            <a:ext cx="3051962" cy="502920"/>
          </a:xfrm>
          <a:prstGeom prst="rect">
            <a:avLst/>
          </a:prstGeom>
          <a:noFill/>
        </p:spPr>
        <p:txBody>
          <a:bodyPr wrap="square" anchor="t">
            <a:spAutoFit/>
          </a:bodyPr>
          <a:lstStyle/>
          <a:p>
            <a:pPr algn="ctr">
              <a:lnSpc>
                <a:spcPct val="105000"/>
              </a:lnSpc>
              <a:spcAft>
                <a:spcPts val="0"/>
              </a:spcAft>
            </a:pPr>
            <a:r>
              <a:rPr sz="1300" b="1">
                <a:solidFill>
                  <a:srgbClr val="1B5E20"/>
                </a:solidFill>
                <a:latin typeface="Calibri"/>
              </a:rPr>
              <a:t>Duren Sawit, Jak Tim</a:t>
            </a:r>
          </a:p>
        </p:txBody>
      </p:sp>
      <p:sp>
        <p:nvSpPr>
          <p:cNvPr id="12" name="TextBox 11"/>
          <p:cNvSpPr txBox="1"/>
          <p:nvPr/>
        </p:nvSpPr>
        <p:spPr>
          <a:xfrm>
            <a:off x="4588154" y="5029200"/>
            <a:ext cx="3015386" cy="868680"/>
          </a:xfrm>
          <a:prstGeom prst="rect">
            <a:avLst/>
          </a:prstGeom>
          <a:noFill/>
        </p:spPr>
        <p:txBody>
          <a:bodyPr wrap="square" anchor="t">
            <a:spAutoFit/>
          </a:bodyPr>
          <a:lstStyle/>
          <a:p>
            <a:pPr algn="ctr">
              <a:lnSpc>
                <a:spcPct val="112000"/>
              </a:lnSpc>
              <a:spcAft>
                <a:spcPts val="0"/>
              </a:spcAft>
            </a:pPr>
            <a:r>
              <a:rPr sz="1150" b="0">
                <a:solidFill>
                  <a:srgbClr val="5C6B60"/>
                </a:solidFill>
                <a:latin typeface="Calibri"/>
              </a:rPr>
              <a:t>Panen kedua dari urban farming 4.250 m2 di 7 kelurahan</a:t>
            </a:r>
          </a:p>
        </p:txBody>
      </p:sp>
      <p:sp>
        <p:nvSpPr>
          <p:cNvPr id="13" name="Rounded Rectangle 12"/>
          <p:cNvSpPr/>
          <p:nvPr/>
        </p:nvSpPr>
        <p:spPr>
          <a:xfrm>
            <a:off x="8097316" y="3767328"/>
            <a:ext cx="3454298" cy="2212848"/>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280196" y="3950208"/>
            <a:ext cx="3088538" cy="502920"/>
          </a:xfrm>
          <a:prstGeom prst="rect">
            <a:avLst/>
          </a:prstGeom>
          <a:noFill/>
        </p:spPr>
        <p:txBody>
          <a:bodyPr wrap="square" anchor="t">
            <a:spAutoFit/>
          </a:bodyPr>
          <a:lstStyle/>
          <a:p>
            <a:pPr algn="ctr">
              <a:lnSpc>
                <a:spcPct val="105000"/>
              </a:lnSpc>
              <a:spcAft>
                <a:spcPts val="0"/>
              </a:spcAft>
            </a:pPr>
            <a:r>
              <a:rPr sz="2600" b="1">
                <a:solidFill>
                  <a:srgbClr val="2E7D32"/>
                </a:solidFill>
                <a:latin typeface="Calibri"/>
              </a:rPr>
              <a:t>26%</a:t>
            </a:r>
          </a:p>
        </p:txBody>
      </p:sp>
      <p:sp>
        <p:nvSpPr>
          <p:cNvPr id="15" name="TextBox 14"/>
          <p:cNvSpPr txBox="1"/>
          <p:nvPr/>
        </p:nvSpPr>
        <p:spPr>
          <a:xfrm>
            <a:off x="8298484" y="4498848"/>
            <a:ext cx="3051962" cy="502920"/>
          </a:xfrm>
          <a:prstGeom prst="rect">
            <a:avLst/>
          </a:prstGeom>
          <a:noFill/>
        </p:spPr>
        <p:txBody>
          <a:bodyPr wrap="square" anchor="t">
            <a:spAutoFit/>
          </a:bodyPr>
          <a:lstStyle/>
          <a:p>
            <a:pPr algn="ctr">
              <a:lnSpc>
                <a:spcPct val="105000"/>
              </a:lnSpc>
              <a:spcAft>
                <a:spcPts val="0"/>
              </a:spcAft>
            </a:pPr>
            <a:r>
              <a:rPr sz="1300" b="1">
                <a:solidFill>
                  <a:srgbClr val="1B5E20"/>
                </a:solidFill>
                <a:latin typeface="Calibri"/>
              </a:rPr>
              <a:t>Kutisari, Surabaya</a:t>
            </a:r>
          </a:p>
        </p:txBody>
      </p:sp>
      <p:sp>
        <p:nvSpPr>
          <p:cNvPr id="16" name="TextBox 15"/>
          <p:cNvSpPr txBox="1"/>
          <p:nvPr/>
        </p:nvSpPr>
        <p:spPr>
          <a:xfrm>
            <a:off x="8316772" y="5029200"/>
            <a:ext cx="3015386" cy="868680"/>
          </a:xfrm>
          <a:prstGeom prst="rect">
            <a:avLst/>
          </a:prstGeom>
          <a:noFill/>
        </p:spPr>
        <p:txBody>
          <a:bodyPr wrap="square" anchor="t">
            <a:spAutoFit/>
          </a:bodyPr>
          <a:lstStyle/>
          <a:p>
            <a:pPr algn="ctr">
              <a:lnSpc>
                <a:spcPct val="112000"/>
              </a:lnSpc>
              <a:spcAft>
                <a:spcPts val="0"/>
              </a:spcAft>
            </a:pPr>
            <a:r>
              <a:rPr sz="1150" b="0">
                <a:solidFill>
                  <a:srgbClr val="5C6B60"/>
                </a:solidFill>
                <a:latin typeface="Calibri"/>
              </a:rPr>
              <a:t>Kebun rumah memenuhi 26% kebutuhan sayur warga per bulan</a:t>
            </a:r>
          </a:p>
        </p:txBody>
      </p:sp>
      <p:sp>
        <p:nvSpPr>
          <p:cNvPr id="17" name="TextBox 16"/>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8" name="TextBox 17"/>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Rencana Kegiatan: 4 Bulan Menuju Panen Perdana</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548640" y="1691640"/>
            <a:ext cx="2540431" cy="43434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713232" y="1874520"/>
            <a:ext cx="2211247" cy="45720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FFFFFF"/>
                </a:solidFill>
                <a:latin typeface="Calibri"/>
              </a:rPr>
              <a:t>Bulan 1</a:t>
            </a:r>
          </a:p>
        </p:txBody>
      </p:sp>
      <p:sp>
        <p:nvSpPr>
          <p:cNvPr id="6" name="TextBox 5"/>
          <p:cNvSpPr txBox="1"/>
          <p:nvPr/>
        </p:nvSpPr>
        <p:spPr>
          <a:xfrm>
            <a:off x="685800" y="2468880"/>
            <a:ext cx="2266111" cy="411480"/>
          </a:xfrm>
          <a:prstGeom prst="rect">
            <a:avLst/>
          </a:prstGeom>
          <a:noFill/>
        </p:spPr>
        <p:txBody>
          <a:bodyPr wrap="square" anchor="t">
            <a:spAutoFit/>
          </a:bodyPr>
          <a:lstStyle/>
          <a:p>
            <a:pPr algn="ctr">
              <a:lnSpc>
                <a:spcPct val="105000"/>
              </a:lnSpc>
              <a:spcAft>
                <a:spcPts val="0"/>
              </a:spcAft>
            </a:pPr>
            <a:r>
              <a:rPr sz="1800" b="1">
                <a:solidFill>
                  <a:srgbClr val="1B5E20"/>
                </a:solidFill>
                <a:latin typeface="Calibri"/>
              </a:rPr>
              <a:t>Persiapan</a:t>
            </a:r>
          </a:p>
        </p:txBody>
      </p:sp>
      <p:sp>
        <p:nvSpPr>
          <p:cNvPr id="7" name="TextBox 6"/>
          <p:cNvSpPr txBox="1"/>
          <p:nvPr/>
        </p:nvSpPr>
        <p:spPr>
          <a:xfrm>
            <a:off x="804672" y="3063240"/>
            <a:ext cx="2083231" cy="2743200"/>
          </a:xfrm>
          <a:prstGeom prst="rect">
            <a:avLst/>
          </a:prstGeom>
          <a:noFill/>
        </p:spPr>
        <p:txBody>
          <a:bodyPr wrap="square" anchor="t">
            <a:spAutoFit/>
          </a:bodyPr>
          <a:lstStyle/>
          <a:p>
            <a:pPr>
              <a:lnSpc>
                <a:spcPct val="108000"/>
              </a:lnSpc>
              <a:spcAft>
                <a:spcPts val="800"/>
              </a:spcAft>
            </a:pPr>
            <a:r>
              <a:rPr sz="1250" b="1">
                <a:solidFill>
                  <a:srgbClr val="7CB342"/>
                </a:solidFill>
                <a:latin typeface="Calibri"/>
              </a:rPr>
              <a:t>•  </a:t>
            </a:r>
            <a:r>
              <a:rPr sz="1250" b="0">
                <a:solidFill>
                  <a:srgbClr val="1F2A24"/>
                </a:solidFill>
                <a:latin typeface="Calibri"/>
              </a:rPr>
              <a:t>Musyawarah &amp; persetujuan warga</a:t>
            </a:r>
          </a:p>
          <a:p>
            <a:pPr>
              <a:lnSpc>
                <a:spcPct val="108000"/>
              </a:lnSpc>
              <a:spcAft>
                <a:spcPts val="800"/>
              </a:spcAft>
            </a:pPr>
            <a:r>
              <a:rPr sz="1250" b="1">
                <a:solidFill>
                  <a:srgbClr val="7CB342"/>
                </a:solidFill>
                <a:latin typeface="Calibri"/>
              </a:rPr>
              <a:t>•  </a:t>
            </a:r>
            <a:r>
              <a:rPr sz="1250" b="0">
                <a:solidFill>
                  <a:srgbClr val="1F2A24"/>
                </a:solidFill>
                <a:latin typeface="Calibri"/>
              </a:rPr>
              <a:t>Bentuk kelompok inti-plasma</a:t>
            </a:r>
          </a:p>
          <a:p>
            <a:pPr>
              <a:lnSpc>
                <a:spcPct val="108000"/>
              </a:lnSpc>
              <a:spcAft>
                <a:spcPts val="800"/>
              </a:spcAft>
            </a:pPr>
            <a:r>
              <a:rPr sz="1250" b="1">
                <a:solidFill>
                  <a:srgbClr val="7CB342"/>
                </a:solidFill>
                <a:latin typeface="Calibri"/>
              </a:rPr>
              <a:t>•  </a:t>
            </a:r>
            <a:r>
              <a:rPr sz="1250" b="0">
                <a:solidFill>
                  <a:srgbClr val="1F2A24"/>
                </a:solidFill>
                <a:latin typeface="Calibri"/>
              </a:rPr>
              <a:t>Pendataan KK &amp; lokasi tanam</a:t>
            </a:r>
          </a:p>
          <a:p>
            <a:pPr>
              <a:lnSpc>
                <a:spcPct val="108000"/>
              </a:lnSpc>
              <a:spcAft>
                <a:spcPts val="800"/>
              </a:spcAft>
            </a:pPr>
            <a:r>
              <a:rPr sz="1250" b="1">
                <a:solidFill>
                  <a:srgbClr val="7CB342"/>
                </a:solidFill>
                <a:latin typeface="Calibri"/>
              </a:rPr>
              <a:t>•  </a:t>
            </a:r>
            <a:r>
              <a:rPr sz="1250" b="0">
                <a:solidFill>
                  <a:srgbClr val="1F2A24"/>
                </a:solidFill>
                <a:latin typeface="Calibri"/>
              </a:rPr>
              <a:t>Pengadaan komposter &amp; alat</a:t>
            </a:r>
          </a:p>
        </p:txBody>
      </p:sp>
      <p:sp>
        <p:nvSpPr>
          <p:cNvPr id="8" name="Right Arrow 7"/>
          <p:cNvSpPr/>
          <p:nvPr/>
        </p:nvSpPr>
        <p:spPr>
          <a:xfrm>
            <a:off x="3116503" y="3726179"/>
            <a:ext cx="256032" cy="274320"/>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3399967" y="1691640"/>
            <a:ext cx="2540431" cy="43434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3564559" y="1874520"/>
            <a:ext cx="2211247" cy="45720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FFFFFF"/>
                </a:solidFill>
                <a:latin typeface="Calibri"/>
              </a:rPr>
              <a:t>Bulan 2</a:t>
            </a:r>
          </a:p>
        </p:txBody>
      </p:sp>
      <p:sp>
        <p:nvSpPr>
          <p:cNvPr id="11" name="TextBox 10"/>
          <p:cNvSpPr txBox="1"/>
          <p:nvPr/>
        </p:nvSpPr>
        <p:spPr>
          <a:xfrm>
            <a:off x="3537127" y="2468880"/>
            <a:ext cx="2266111" cy="411480"/>
          </a:xfrm>
          <a:prstGeom prst="rect">
            <a:avLst/>
          </a:prstGeom>
          <a:noFill/>
        </p:spPr>
        <p:txBody>
          <a:bodyPr wrap="square" anchor="t">
            <a:spAutoFit/>
          </a:bodyPr>
          <a:lstStyle/>
          <a:p>
            <a:pPr algn="ctr">
              <a:lnSpc>
                <a:spcPct val="105000"/>
              </a:lnSpc>
              <a:spcAft>
                <a:spcPts val="0"/>
              </a:spcAft>
            </a:pPr>
            <a:r>
              <a:rPr sz="1800" b="1">
                <a:solidFill>
                  <a:srgbClr val="1B5E20"/>
                </a:solidFill>
                <a:latin typeface="Calibri"/>
              </a:rPr>
              <a:t>Pelatihan</a:t>
            </a:r>
          </a:p>
        </p:txBody>
      </p:sp>
      <p:sp>
        <p:nvSpPr>
          <p:cNvPr id="12" name="TextBox 11"/>
          <p:cNvSpPr txBox="1"/>
          <p:nvPr/>
        </p:nvSpPr>
        <p:spPr>
          <a:xfrm>
            <a:off x="3655999" y="3063240"/>
            <a:ext cx="2083231" cy="2743200"/>
          </a:xfrm>
          <a:prstGeom prst="rect">
            <a:avLst/>
          </a:prstGeom>
          <a:noFill/>
        </p:spPr>
        <p:txBody>
          <a:bodyPr wrap="square" anchor="t">
            <a:spAutoFit/>
          </a:bodyPr>
          <a:lstStyle/>
          <a:p>
            <a:pPr>
              <a:lnSpc>
                <a:spcPct val="108000"/>
              </a:lnSpc>
              <a:spcAft>
                <a:spcPts val="800"/>
              </a:spcAft>
            </a:pPr>
            <a:r>
              <a:rPr sz="1250" b="1">
                <a:solidFill>
                  <a:srgbClr val="7CB342"/>
                </a:solidFill>
                <a:latin typeface="Calibri"/>
              </a:rPr>
              <a:t>•  </a:t>
            </a:r>
            <a:r>
              <a:rPr sz="1250" b="0">
                <a:solidFill>
                  <a:srgbClr val="1F2A24"/>
                </a:solidFill>
                <a:latin typeface="Calibri"/>
              </a:rPr>
              <a:t>Sosialisasi program ke warga</a:t>
            </a:r>
          </a:p>
          <a:p>
            <a:pPr>
              <a:lnSpc>
                <a:spcPct val="108000"/>
              </a:lnSpc>
              <a:spcAft>
                <a:spcPts val="800"/>
              </a:spcAft>
            </a:pPr>
            <a:r>
              <a:rPr sz="1250" b="1">
                <a:solidFill>
                  <a:srgbClr val="7CB342"/>
                </a:solidFill>
                <a:latin typeface="Calibri"/>
              </a:rPr>
              <a:t>•  </a:t>
            </a:r>
            <a:r>
              <a:rPr sz="1250" b="0">
                <a:solidFill>
                  <a:srgbClr val="1F2A24"/>
                </a:solidFill>
                <a:latin typeface="Calibri"/>
              </a:rPr>
              <a:t>Pelatihan kompos (ember/takakura)</a:t>
            </a:r>
          </a:p>
          <a:p>
            <a:pPr>
              <a:lnSpc>
                <a:spcPct val="108000"/>
              </a:lnSpc>
              <a:spcAft>
                <a:spcPts val="800"/>
              </a:spcAft>
            </a:pPr>
            <a:r>
              <a:rPr sz="1250" b="1">
                <a:solidFill>
                  <a:srgbClr val="7CB342"/>
                </a:solidFill>
                <a:latin typeface="Calibri"/>
              </a:rPr>
              <a:t>•  </a:t>
            </a:r>
            <a:r>
              <a:rPr sz="1250" b="0">
                <a:solidFill>
                  <a:srgbClr val="1F2A24"/>
                </a:solidFill>
                <a:latin typeface="Calibri"/>
              </a:rPr>
              <a:t>Pelatihan bercocok tanam</a:t>
            </a:r>
          </a:p>
          <a:p>
            <a:pPr>
              <a:lnSpc>
                <a:spcPct val="108000"/>
              </a:lnSpc>
              <a:spcAft>
                <a:spcPts val="800"/>
              </a:spcAft>
            </a:pPr>
            <a:r>
              <a:rPr sz="1250" b="1">
                <a:solidFill>
                  <a:srgbClr val="7CB342"/>
                </a:solidFill>
                <a:latin typeface="Calibri"/>
              </a:rPr>
              <a:t>•  </a:t>
            </a:r>
            <a:r>
              <a:rPr sz="1250" b="0">
                <a:solidFill>
                  <a:srgbClr val="1F2A24"/>
                </a:solidFill>
                <a:latin typeface="Calibri"/>
              </a:rPr>
              <a:t>Pembagian bibit &amp; media</a:t>
            </a:r>
          </a:p>
        </p:txBody>
      </p:sp>
      <p:sp>
        <p:nvSpPr>
          <p:cNvPr id="13" name="Right Arrow 12"/>
          <p:cNvSpPr/>
          <p:nvPr/>
        </p:nvSpPr>
        <p:spPr>
          <a:xfrm>
            <a:off x="5967831" y="3726179"/>
            <a:ext cx="256032" cy="274320"/>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251295" y="1691640"/>
            <a:ext cx="2540431" cy="43434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415887" y="1874520"/>
            <a:ext cx="2211247" cy="45720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FFFFFF"/>
                </a:solidFill>
                <a:latin typeface="Calibri"/>
              </a:rPr>
              <a:t>Bulan 3</a:t>
            </a:r>
          </a:p>
        </p:txBody>
      </p:sp>
      <p:sp>
        <p:nvSpPr>
          <p:cNvPr id="16" name="TextBox 15"/>
          <p:cNvSpPr txBox="1"/>
          <p:nvPr/>
        </p:nvSpPr>
        <p:spPr>
          <a:xfrm>
            <a:off x="6388455" y="2468880"/>
            <a:ext cx="2266111" cy="411480"/>
          </a:xfrm>
          <a:prstGeom prst="rect">
            <a:avLst/>
          </a:prstGeom>
          <a:noFill/>
        </p:spPr>
        <p:txBody>
          <a:bodyPr wrap="square" anchor="t">
            <a:spAutoFit/>
          </a:bodyPr>
          <a:lstStyle/>
          <a:p>
            <a:pPr algn="ctr">
              <a:lnSpc>
                <a:spcPct val="105000"/>
              </a:lnSpc>
              <a:spcAft>
                <a:spcPts val="0"/>
              </a:spcAft>
            </a:pPr>
            <a:r>
              <a:rPr sz="1800" b="1">
                <a:solidFill>
                  <a:srgbClr val="1B5E20"/>
                </a:solidFill>
                <a:latin typeface="Calibri"/>
              </a:rPr>
              <a:t>Penanaman</a:t>
            </a:r>
          </a:p>
        </p:txBody>
      </p:sp>
      <p:sp>
        <p:nvSpPr>
          <p:cNvPr id="17" name="TextBox 16"/>
          <p:cNvSpPr txBox="1"/>
          <p:nvPr/>
        </p:nvSpPr>
        <p:spPr>
          <a:xfrm>
            <a:off x="6507327" y="3063240"/>
            <a:ext cx="2083231" cy="2743200"/>
          </a:xfrm>
          <a:prstGeom prst="rect">
            <a:avLst/>
          </a:prstGeom>
          <a:noFill/>
        </p:spPr>
        <p:txBody>
          <a:bodyPr wrap="square" anchor="t">
            <a:spAutoFit/>
          </a:bodyPr>
          <a:lstStyle/>
          <a:p>
            <a:pPr>
              <a:lnSpc>
                <a:spcPct val="108000"/>
              </a:lnSpc>
              <a:spcAft>
                <a:spcPts val="800"/>
              </a:spcAft>
            </a:pPr>
            <a:r>
              <a:rPr sz="1250" b="1">
                <a:solidFill>
                  <a:srgbClr val="7CB342"/>
                </a:solidFill>
                <a:latin typeface="Calibri"/>
              </a:rPr>
              <a:t>•  </a:t>
            </a:r>
            <a:r>
              <a:rPr sz="1250" b="0">
                <a:solidFill>
                  <a:srgbClr val="1F2A24"/>
                </a:solidFill>
                <a:latin typeface="Calibri"/>
              </a:rPr>
              <a:t>Tanam di halaman &amp; bedeng</a:t>
            </a:r>
          </a:p>
          <a:p>
            <a:pPr>
              <a:lnSpc>
                <a:spcPct val="108000"/>
              </a:lnSpc>
              <a:spcAft>
                <a:spcPts val="800"/>
              </a:spcAft>
            </a:pPr>
            <a:r>
              <a:rPr sz="1250" b="1">
                <a:solidFill>
                  <a:srgbClr val="7CB342"/>
                </a:solidFill>
                <a:latin typeface="Calibri"/>
              </a:rPr>
              <a:t>•  </a:t>
            </a:r>
            <a:r>
              <a:rPr sz="1250" b="0">
                <a:solidFill>
                  <a:srgbClr val="1F2A24"/>
                </a:solidFill>
                <a:latin typeface="Calibri"/>
              </a:rPr>
              <a:t>Setor sampah organik rutin</a:t>
            </a:r>
          </a:p>
          <a:p>
            <a:pPr>
              <a:lnSpc>
                <a:spcPct val="108000"/>
              </a:lnSpc>
              <a:spcAft>
                <a:spcPts val="800"/>
              </a:spcAft>
            </a:pPr>
            <a:r>
              <a:rPr sz="1250" b="1">
                <a:solidFill>
                  <a:srgbClr val="7CB342"/>
                </a:solidFill>
                <a:latin typeface="Calibri"/>
              </a:rPr>
              <a:t>•  </a:t>
            </a:r>
            <a:r>
              <a:rPr sz="1250" b="0">
                <a:solidFill>
                  <a:srgbClr val="1F2A24"/>
                </a:solidFill>
                <a:latin typeface="Calibri"/>
              </a:rPr>
              <a:t>Piket rawat bersama</a:t>
            </a:r>
          </a:p>
          <a:p>
            <a:pPr>
              <a:lnSpc>
                <a:spcPct val="108000"/>
              </a:lnSpc>
              <a:spcAft>
                <a:spcPts val="800"/>
              </a:spcAft>
            </a:pPr>
            <a:r>
              <a:rPr sz="1250" b="1">
                <a:solidFill>
                  <a:srgbClr val="7CB342"/>
                </a:solidFill>
                <a:latin typeface="Calibri"/>
              </a:rPr>
              <a:t>•  </a:t>
            </a:r>
            <a:r>
              <a:rPr sz="1250" b="0">
                <a:solidFill>
                  <a:srgbClr val="1F2A24"/>
                </a:solidFill>
                <a:latin typeface="Calibri"/>
              </a:rPr>
              <a:t>Pendampingan fasilitator</a:t>
            </a:r>
          </a:p>
        </p:txBody>
      </p:sp>
      <p:sp>
        <p:nvSpPr>
          <p:cNvPr id="18" name="Right Arrow 17"/>
          <p:cNvSpPr/>
          <p:nvPr/>
        </p:nvSpPr>
        <p:spPr>
          <a:xfrm>
            <a:off x="8819159" y="3726179"/>
            <a:ext cx="256032" cy="274320"/>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9102623" y="1691640"/>
            <a:ext cx="2540431" cy="43434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9267215" y="1874520"/>
            <a:ext cx="2211247" cy="45720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FFFFFF"/>
                </a:solidFill>
                <a:latin typeface="Calibri"/>
              </a:rPr>
              <a:t>Bulan 4</a:t>
            </a:r>
          </a:p>
        </p:txBody>
      </p:sp>
      <p:sp>
        <p:nvSpPr>
          <p:cNvPr id="21" name="TextBox 20"/>
          <p:cNvSpPr txBox="1"/>
          <p:nvPr/>
        </p:nvSpPr>
        <p:spPr>
          <a:xfrm>
            <a:off x="9239783" y="2468880"/>
            <a:ext cx="2266111" cy="411480"/>
          </a:xfrm>
          <a:prstGeom prst="rect">
            <a:avLst/>
          </a:prstGeom>
          <a:noFill/>
        </p:spPr>
        <p:txBody>
          <a:bodyPr wrap="square" anchor="t">
            <a:spAutoFit/>
          </a:bodyPr>
          <a:lstStyle/>
          <a:p>
            <a:pPr algn="ctr">
              <a:lnSpc>
                <a:spcPct val="105000"/>
              </a:lnSpc>
              <a:spcAft>
                <a:spcPts val="0"/>
              </a:spcAft>
            </a:pPr>
            <a:r>
              <a:rPr sz="1800" b="1">
                <a:solidFill>
                  <a:srgbClr val="1B5E20"/>
                </a:solidFill>
                <a:latin typeface="Calibri"/>
              </a:rPr>
              <a:t>Panen Perdana</a:t>
            </a:r>
          </a:p>
        </p:txBody>
      </p:sp>
      <p:sp>
        <p:nvSpPr>
          <p:cNvPr id="22" name="TextBox 21"/>
          <p:cNvSpPr txBox="1"/>
          <p:nvPr/>
        </p:nvSpPr>
        <p:spPr>
          <a:xfrm>
            <a:off x="9358655" y="3063240"/>
            <a:ext cx="2083231" cy="2743200"/>
          </a:xfrm>
          <a:prstGeom prst="rect">
            <a:avLst/>
          </a:prstGeom>
          <a:noFill/>
        </p:spPr>
        <p:txBody>
          <a:bodyPr wrap="square" anchor="t">
            <a:spAutoFit/>
          </a:bodyPr>
          <a:lstStyle/>
          <a:p>
            <a:pPr>
              <a:lnSpc>
                <a:spcPct val="108000"/>
              </a:lnSpc>
              <a:spcAft>
                <a:spcPts val="800"/>
              </a:spcAft>
            </a:pPr>
            <a:r>
              <a:rPr sz="1250" b="1">
                <a:solidFill>
                  <a:srgbClr val="7CB342"/>
                </a:solidFill>
                <a:latin typeface="Calibri"/>
              </a:rPr>
              <a:t>•  </a:t>
            </a:r>
            <a:r>
              <a:rPr sz="1250" b="0">
                <a:solidFill>
                  <a:srgbClr val="1F2A24"/>
                </a:solidFill>
                <a:latin typeface="Calibri"/>
              </a:rPr>
              <a:t>Panen bersama warga</a:t>
            </a:r>
          </a:p>
          <a:p>
            <a:pPr>
              <a:lnSpc>
                <a:spcPct val="108000"/>
              </a:lnSpc>
              <a:spcAft>
                <a:spcPts val="800"/>
              </a:spcAft>
            </a:pPr>
            <a:r>
              <a:rPr sz="1250" b="1">
                <a:solidFill>
                  <a:srgbClr val="7CB342"/>
                </a:solidFill>
                <a:latin typeface="Calibri"/>
              </a:rPr>
              <a:t>•  </a:t>
            </a:r>
            <a:r>
              <a:rPr sz="1250" b="0">
                <a:solidFill>
                  <a:srgbClr val="1F2A24"/>
                </a:solidFill>
                <a:latin typeface="Calibri"/>
              </a:rPr>
              <a:t>Pembagian hasil panen</a:t>
            </a:r>
          </a:p>
          <a:p>
            <a:pPr>
              <a:lnSpc>
                <a:spcPct val="108000"/>
              </a:lnSpc>
              <a:spcAft>
                <a:spcPts val="800"/>
              </a:spcAft>
            </a:pPr>
            <a:r>
              <a:rPr sz="1250" b="1">
                <a:solidFill>
                  <a:srgbClr val="7CB342"/>
                </a:solidFill>
                <a:latin typeface="Calibri"/>
              </a:rPr>
              <a:t>•  </a:t>
            </a:r>
            <a:r>
              <a:rPr sz="1250" b="0">
                <a:solidFill>
                  <a:srgbClr val="1F2A24"/>
                </a:solidFill>
                <a:latin typeface="Calibri"/>
              </a:rPr>
              <a:t>Penjualan sisa panen</a:t>
            </a:r>
          </a:p>
          <a:p>
            <a:pPr>
              <a:lnSpc>
                <a:spcPct val="108000"/>
              </a:lnSpc>
              <a:spcAft>
                <a:spcPts val="800"/>
              </a:spcAft>
            </a:pPr>
            <a:r>
              <a:rPr sz="1250" b="1">
                <a:solidFill>
                  <a:srgbClr val="7CB342"/>
                </a:solidFill>
                <a:latin typeface="Calibri"/>
              </a:rPr>
              <a:t>•  </a:t>
            </a:r>
            <a:r>
              <a:rPr sz="1250" b="0">
                <a:solidFill>
                  <a:srgbClr val="1F2A24"/>
                </a:solidFill>
                <a:latin typeface="Calibri"/>
              </a:rPr>
              <a:t>Evaluasi &amp; rencana lanjut</a:t>
            </a:r>
          </a:p>
        </p:txBody>
      </p:sp>
      <p:sp>
        <p:nvSpPr>
          <p:cNvPr id="23" name="TextBox 22"/>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24" name="TextBox 23"/>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Estimasi Anggaran Awal (10-20 KK)</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4" name="Table 3"/>
          <p:cNvGraphicFramePr>
            <a:graphicFrameLocks noGrp="1"/>
          </p:cNvGraphicFramePr>
          <p:nvPr/>
        </p:nvGraphicFramePr>
        <p:xfrm>
          <a:off x="640080" y="1554480"/>
          <a:ext cx="10908792" cy="3072384"/>
        </p:xfrm>
        <a:graphic>
          <a:graphicData uri="http://schemas.openxmlformats.org/drawingml/2006/table">
            <a:tbl>
              <a:tblPr firstRow="1" bandRow="1">
                <a:tableStyleId>{5C22544A-7EE6-4342-B048-85BDC9FD1C3A}</a:tableStyleId>
              </a:tblPr>
              <a:tblGrid>
                <a:gridCol w="502920"/>
                <a:gridCol w="2606040"/>
                <a:gridCol w="5239512"/>
                <a:gridCol w="2560320"/>
              </a:tblGrid>
              <a:tr h="384048">
                <a:tc>
                  <a:txBody>
                    <a:bodyPr/>
                    <a:lstStyle/>
                    <a:p>
                      <a:pPr algn="ctr"/>
                      <a:r>
                        <a:rPr sz="1350" b="1">
                          <a:solidFill>
                            <a:srgbClr val="FFFFFF"/>
                          </a:solidFill>
                          <a:latin typeface="Calibri"/>
                        </a:rPr>
                        <a:t>No</a:t>
                      </a:r>
                    </a:p>
                  </a:txBody>
                  <a:tcPr anchor="ctr" marL="73152" marR="73152">
                    <a:solidFill>
                      <a:srgbClr val="2E7D32"/>
                    </a:solidFill>
                  </a:tcPr>
                </a:tc>
                <a:tc>
                  <a:txBody>
                    <a:bodyPr/>
                    <a:lstStyle/>
                    <a:p>
                      <a:pPr algn="l"/>
                      <a:r>
                        <a:rPr sz="1350" b="1">
                          <a:solidFill>
                            <a:srgbClr val="FFFFFF"/>
                          </a:solidFill>
                          <a:latin typeface="Calibri"/>
                        </a:rPr>
                        <a:t>Komponen</a:t>
                      </a:r>
                    </a:p>
                  </a:txBody>
                  <a:tcPr anchor="ctr" marL="73152" marR="73152">
                    <a:solidFill>
                      <a:srgbClr val="2E7D32"/>
                    </a:solidFill>
                  </a:tcPr>
                </a:tc>
                <a:tc>
                  <a:txBody>
                    <a:bodyPr/>
                    <a:lstStyle/>
                    <a:p>
                      <a:pPr algn="l"/>
                      <a:r>
                        <a:rPr sz="1350" b="1">
                          <a:solidFill>
                            <a:srgbClr val="FFFFFF"/>
                          </a:solidFill>
                          <a:latin typeface="Calibri"/>
                        </a:rPr>
                        <a:t>Rincian</a:t>
                      </a:r>
                    </a:p>
                  </a:txBody>
                  <a:tcPr anchor="ctr" marL="73152" marR="73152">
                    <a:solidFill>
                      <a:srgbClr val="2E7D32"/>
                    </a:solidFill>
                  </a:tcPr>
                </a:tc>
                <a:tc>
                  <a:txBody>
                    <a:bodyPr/>
                    <a:lstStyle/>
                    <a:p>
                      <a:pPr algn="r"/>
                      <a:r>
                        <a:rPr sz="1350" b="1">
                          <a:solidFill>
                            <a:srgbClr val="FFFFFF"/>
                          </a:solidFill>
                          <a:latin typeface="Calibri"/>
                        </a:rPr>
                        <a:t>Estimasi Biaya</a:t>
                      </a:r>
                    </a:p>
                  </a:txBody>
                  <a:tcPr anchor="ctr" marL="73152" marR="73152">
                    <a:solidFill>
                      <a:srgbClr val="2E7D32"/>
                    </a:solidFill>
                  </a:tcPr>
                </a:tc>
              </a:tr>
              <a:tr h="384048">
                <a:tc>
                  <a:txBody>
                    <a:bodyPr/>
                    <a:lstStyle/>
                    <a:p>
                      <a:pPr algn="ctr"/>
                      <a:r>
                        <a:rPr sz="1300" b="0">
                          <a:solidFill>
                            <a:srgbClr val="1F2A24"/>
                          </a:solidFill>
                          <a:latin typeface="Calibri"/>
                        </a:rPr>
                        <a:t>1</a:t>
                      </a:r>
                    </a:p>
                  </a:txBody>
                  <a:tcPr anchor="ctr" marL="73152" marR="73152">
                    <a:solidFill>
                      <a:srgbClr val="FFFFFF"/>
                    </a:solidFill>
                  </a:tcPr>
                </a:tc>
                <a:tc>
                  <a:txBody>
                    <a:bodyPr/>
                    <a:lstStyle/>
                    <a:p>
                      <a:pPr algn="l"/>
                      <a:r>
                        <a:rPr sz="1300" b="1">
                          <a:solidFill>
                            <a:srgbClr val="1F2A24"/>
                          </a:solidFill>
                          <a:latin typeface="Calibri"/>
                        </a:rPr>
                        <a:t>Komposter ember tumpuk</a:t>
                      </a:r>
                    </a:p>
                  </a:txBody>
                  <a:tcPr anchor="ctr" marL="73152" marR="73152">
                    <a:solidFill>
                      <a:srgbClr val="FFFFFF"/>
                    </a:solidFill>
                  </a:tcPr>
                </a:tc>
                <a:tc>
                  <a:txBody>
                    <a:bodyPr/>
                    <a:lstStyle/>
                    <a:p>
                      <a:pPr algn="l"/>
                      <a:r>
                        <a:rPr sz="1300" b="0">
                          <a:solidFill>
                            <a:srgbClr val="1F2A24"/>
                          </a:solidFill>
                          <a:latin typeface="Calibri"/>
                        </a:rPr>
                        <a:t>4 unit (2 ember + kran) @ Rp125.000</a:t>
                      </a:r>
                    </a:p>
                  </a:txBody>
                  <a:tcPr anchor="ctr" marL="73152" marR="73152">
                    <a:solidFill>
                      <a:srgbClr val="FFFFFF"/>
                    </a:solidFill>
                  </a:tcPr>
                </a:tc>
                <a:tc>
                  <a:txBody>
                    <a:bodyPr/>
                    <a:lstStyle/>
                    <a:p>
                      <a:pPr algn="r"/>
                      <a:r>
                        <a:rPr sz="1300" b="0">
                          <a:solidFill>
                            <a:srgbClr val="1F2A24"/>
                          </a:solidFill>
                          <a:latin typeface="Calibri"/>
                        </a:rPr>
                        <a:t>Rp500.000</a:t>
                      </a:r>
                    </a:p>
                  </a:txBody>
                  <a:tcPr anchor="ctr" marL="73152" marR="73152">
                    <a:solidFill>
                      <a:srgbClr val="FFFFFF"/>
                    </a:solidFill>
                  </a:tcPr>
                </a:tc>
              </a:tr>
              <a:tr h="384048">
                <a:tc>
                  <a:txBody>
                    <a:bodyPr/>
                    <a:lstStyle/>
                    <a:p>
                      <a:pPr algn="ctr"/>
                      <a:r>
                        <a:rPr sz="1300" b="0">
                          <a:solidFill>
                            <a:srgbClr val="1F2A24"/>
                          </a:solidFill>
                          <a:latin typeface="Calibri"/>
                        </a:rPr>
                        <a:t>2</a:t>
                      </a:r>
                    </a:p>
                  </a:txBody>
                  <a:tcPr anchor="ctr" marL="73152" marR="73152">
                    <a:solidFill>
                      <a:srgbClr val="F1F7EF"/>
                    </a:solidFill>
                  </a:tcPr>
                </a:tc>
                <a:tc>
                  <a:txBody>
                    <a:bodyPr/>
                    <a:lstStyle/>
                    <a:p>
                      <a:pPr algn="l"/>
                      <a:r>
                        <a:rPr sz="1300" b="1">
                          <a:solidFill>
                            <a:srgbClr val="1F2A24"/>
                          </a:solidFill>
                          <a:latin typeface="Calibri"/>
                        </a:rPr>
                        <a:t>Benih &amp; bibit sayur/bumbu</a:t>
                      </a:r>
                    </a:p>
                  </a:txBody>
                  <a:tcPr anchor="ctr" marL="73152" marR="73152">
                    <a:solidFill>
                      <a:srgbClr val="F1F7EF"/>
                    </a:solidFill>
                  </a:tcPr>
                </a:tc>
                <a:tc>
                  <a:txBody>
                    <a:bodyPr/>
                    <a:lstStyle/>
                    <a:p>
                      <a:pPr algn="l"/>
                      <a:r>
                        <a:rPr sz="1300" b="0">
                          <a:solidFill>
                            <a:srgbClr val="1F2A24"/>
                          </a:solidFill>
                          <a:latin typeface="Calibri"/>
                        </a:rPr>
                        <a:t>12 sachet (kangkung, pakcoy, cabai, tomat) @ Rp14.000</a:t>
                      </a:r>
                    </a:p>
                  </a:txBody>
                  <a:tcPr anchor="ctr" marL="73152" marR="73152">
                    <a:solidFill>
                      <a:srgbClr val="F1F7EF"/>
                    </a:solidFill>
                  </a:tcPr>
                </a:tc>
                <a:tc>
                  <a:txBody>
                    <a:bodyPr/>
                    <a:lstStyle/>
                    <a:p>
                      <a:pPr algn="r"/>
                      <a:r>
                        <a:rPr sz="1300" b="0">
                          <a:solidFill>
                            <a:srgbClr val="1F2A24"/>
                          </a:solidFill>
                          <a:latin typeface="Calibri"/>
                        </a:rPr>
                        <a:t>Rp170.000</a:t>
                      </a:r>
                    </a:p>
                  </a:txBody>
                  <a:tcPr anchor="ctr" marL="73152" marR="73152">
                    <a:solidFill>
                      <a:srgbClr val="F1F7EF"/>
                    </a:solidFill>
                  </a:tcPr>
                </a:tc>
              </a:tr>
              <a:tr h="384048">
                <a:tc>
                  <a:txBody>
                    <a:bodyPr/>
                    <a:lstStyle/>
                    <a:p>
                      <a:pPr algn="ctr"/>
                      <a:r>
                        <a:rPr sz="1300" b="0">
                          <a:solidFill>
                            <a:srgbClr val="1F2A24"/>
                          </a:solidFill>
                          <a:latin typeface="Calibri"/>
                        </a:rPr>
                        <a:t>3</a:t>
                      </a:r>
                    </a:p>
                  </a:txBody>
                  <a:tcPr anchor="ctr" marL="73152" marR="73152">
                    <a:solidFill>
                      <a:srgbClr val="FFFFFF"/>
                    </a:solidFill>
                  </a:tcPr>
                </a:tc>
                <a:tc>
                  <a:txBody>
                    <a:bodyPr/>
                    <a:lstStyle/>
                    <a:p>
                      <a:pPr algn="l"/>
                      <a:r>
                        <a:rPr sz="1300" b="1">
                          <a:solidFill>
                            <a:srgbClr val="1F2A24"/>
                          </a:solidFill>
                          <a:latin typeface="Calibri"/>
                        </a:rPr>
                        <a:t>Media tanam &amp; pupuk</a:t>
                      </a:r>
                    </a:p>
                  </a:txBody>
                  <a:tcPr anchor="ctr" marL="73152" marR="73152">
                    <a:solidFill>
                      <a:srgbClr val="FFFFFF"/>
                    </a:solidFill>
                  </a:tcPr>
                </a:tc>
                <a:tc>
                  <a:txBody>
                    <a:bodyPr/>
                    <a:lstStyle/>
                    <a:p>
                      <a:pPr algn="l"/>
                      <a:r>
                        <a:rPr sz="1300" b="0">
                          <a:solidFill>
                            <a:srgbClr val="1F2A24"/>
                          </a:solidFill>
                          <a:latin typeface="Calibri"/>
                        </a:rPr>
                        <a:t>Sekam, pupuk kandang, aktivator EM4</a:t>
                      </a:r>
                    </a:p>
                  </a:txBody>
                  <a:tcPr anchor="ctr" marL="73152" marR="73152">
                    <a:solidFill>
                      <a:srgbClr val="FFFFFF"/>
                    </a:solidFill>
                  </a:tcPr>
                </a:tc>
                <a:tc>
                  <a:txBody>
                    <a:bodyPr/>
                    <a:lstStyle/>
                    <a:p>
                      <a:pPr algn="r"/>
                      <a:r>
                        <a:rPr sz="1300" b="0">
                          <a:solidFill>
                            <a:srgbClr val="1F2A24"/>
                          </a:solidFill>
                          <a:latin typeface="Calibri"/>
                        </a:rPr>
                        <a:t>Rp200.000</a:t>
                      </a:r>
                    </a:p>
                  </a:txBody>
                  <a:tcPr anchor="ctr" marL="73152" marR="73152">
                    <a:solidFill>
                      <a:srgbClr val="FFFFFF"/>
                    </a:solidFill>
                  </a:tcPr>
                </a:tc>
              </a:tr>
              <a:tr h="384048">
                <a:tc>
                  <a:txBody>
                    <a:bodyPr/>
                    <a:lstStyle/>
                    <a:p>
                      <a:pPr algn="ctr"/>
                      <a:r>
                        <a:rPr sz="1300" b="0">
                          <a:solidFill>
                            <a:srgbClr val="1F2A24"/>
                          </a:solidFill>
                          <a:latin typeface="Calibri"/>
                        </a:rPr>
                        <a:t>4</a:t>
                      </a:r>
                    </a:p>
                  </a:txBody>
                  <a:tcPr anchor="ctr" marL="73152" marR="73152">
                    <a:solidFill>
                      <a:srgbClr val="F1F7EF"/>
                    </a:solidFill>
                  </a:tcPr>
                </a:tc>
                <a:tc>
                  <a:txBody>
                    <a:bodyPr/>
                    <a:lstStyle/>
                    <a:p>
                      <a:pPr algn="l"/>
                      <a:r>
                        <a:rPr sz="1300" b="1">
                          <a:solidFill>
                            <a:srgbClr val="1F2A24"/>
                          </a:solidFill>
                          <a:latin typeface="Calibri"/>
                        </a:rPr>
                        <a:t>Alat kebun bersama</a:t>
                      </a:r>
                    </a:p>
                  </a:txBody>
                  <a:tcPr anchor="ctr" marL="73152" marR="73152">
                    <a:solidFill>
                      <a:srgbClr val="F1F7EF"/>
                    </a:solidFill>
                  </a:tcPr>
                </a:tc>
                <a:tc>
                  <a:txBody>
                    <a:bodyPr/>
                    <a:lstStyle/>
                    <a:p>
                      <a:pPr algn="l"/>
                      <a:r>
                        <a:rPr sz="1300" b="0">
                          <a:solidFill>
                            <a:srgbClr val="1F2A24"/>
                          </a:solidFill>
                          <a:latin typeface="Calibri"/>
                        </a:rPr>
                        <a:t>Cangkul, sarung tangan, sprayer, selang</a:t>
                      </a:r>
                    </a:p>
                  </a:txBody>
                  <a:tcPr anchor="ctr" marL="73152" marR="73152">
                    <a:solidFill>
                      <a:srgbClr val="F1F7EF"/>
                    </a:solidFill>
                  </a:tcPr>
                </a:tc>
                <a:tc>
                  <a:txBody>
                    <a:bodyPr/>
                    <a:lstStyle/>
                    <a:p>
                      <a:pPr algn="r"/>
                      <a:r>
                        <a:rPr sz="1300" b="0">
                          <a:solidFill>
                            <a:srgbClr val="1F2A24"/>
                          </a:solidFill>
                          <a:latin typeface="Calibri"/>
                        </a:rPr>
                        <a:t>Rp250.000</a:t>
                      </a:r>
                    </a:p>
                  </a:txBody>
                  <a:tcPr anchor="ctr" marL="73152" marR="73152">
                    <a:solidFill>
                      <a:srgbClr val="F1F7EF"/>
                    </a:solidFill>
                  </a:tcPr>
                </a:tc>
              </a:tr>
              <a:tr h="384048">
                <a:tc>
                  <a:txBody>
                    <a:bodyPr/>
                    <a:lstStyle/>
                    <a:p>
                      <a:pPr algn="ctr"/>
                      <a:r>
                        <a:rPr sz="1300" b="0">
                          <a:solidFill>
                            <a:srgbClr val="1F2A24"/>
                          </a:solidFill>
                          <a:latin typeface="Calibri"/>
                        </a:rPr>
                        <a:t>5</a:t>
                      </a:r>
                    </a:p>
                  </a:txBody>
                  <a:tcPr anchor="ctr" marL="73152" marR="73152">
                    <a:solidFill>
                      <a:srgbClr val="FFFFFF"/>
                    </a:solidFill>
                  </a:tcPr>
                </a:tc>
                <a:tc>
                  <a:txBody>
                    <a:bodyPr/>
                    <a:lstStyle/>
                    <a:p>
                      <a:pPr algn="l"/>
                      <a:r>
                        <a:rPr sz="1300" b="1">
                          <a:solidFill>
                            <a:srgbClr val="1F2A24"/>
                          </a:solidFill>
                          <a:latin typeface="Calibri"/>
                        </a:rPr>
                        <a:t>Pelatihan &amp; fasilitator</a:t>
                      </a:r>
                    </a:p>
                  </a:txBody>
                  <a:tcPr anchor="ctr" marL="73152" marR="73152">
                    <a:solidFill>
                      <a:srgbClr val="FFFFFF"/>
                    </a:solidFill>
                  </a:tcPr>
                </a:tc>
                <a:tc>
                  <a:txBody>
                    <a:bodyPr/>
                    <a:lstStyle/>
                    <a:p>
                      <a:pPr algn="l"/>
                      <a:r>
                        <a:rPr sz="1300" b="0">
                          <a:solidFill>
                            <a:srgbClr val="1F2A24"/>
                          </a:solidFill>
                          <a:latin typeface="Calibri"/>
                        </a:rPr>
                        <a:t>Insentif fasilitator + konsumsi 2x pelatihan</a:t>
                      </a:r>
                    </a:p>
                  </a:txBody>
                  <a:tcPr anchor="ctr" marL="73152" marR="73152">
                    <a:solidFill>
                      <a:srgbClr val="FFFFFF"/>
                    </a:solidFill>
                  </a:tcPr>
                </a:tc>
                <a:tc>
                  <a:txBody>
                    <a:bodyPr/>
                    <a:lstStyle/>
                    <a:p>
                      <a:pPr algn="r"/>
                      <a:r>
                        <a:rPr sz="1300" b="0">
                          <a:solidFill>
                            <a:srgbClr val="1F2A24"/>
                          </a:solidFill>
                          <a:latin typeface="Calibri"/>
                        </a:rPr>
                        <a:t>Rp250.000</a:t>
                      </a:r>
                    </a:p>
                  </a:txBody>
                  <a:tcPr anchor="ctr" marL="73152" marR="73152">
                    <a:solidFill>
                      <a:srgbClr val="FFFFFF"/>
                    </a:solidFill>
                  </a:tcPr>
                </a:tc>
              </a:tr>
              <a:tr h="384048">
                <a:tc>
                  <a:txBody>
                    <a:bodyPr/>
                    <a:lstStyle/>
                    <a:p>
                      <a:pPr algn="ctr"/>
                      <a:r>
                        <a:rPr sz="1300" b="0">
                          <a:solidFill>
                            <a:srgbClr val="1F2A24"/>
                          </a:solidFill>
                          <a:latin typeface="Calibri"/>
                        </a:rPr>
                        <a:t>6</a:t>
                      </a:r>
                    </a:p>
                  </a:txBody>
                  <a:tcPr anchor="ctr" marL="73152" marR="73152">
                    <a:solidFill>
                      <a:srgbClr val="F1F7EF"/>
                    </a:solidFill>
                  </a:tcPr>
                </a:tc>
                <a:tc>
                  <a:txBody>
                    <a:bodyPr/>
                    <a:lstStyle/>
                    <a:p>
                      <a:pPr algn="l"/>
                      <a:r>
                        <a:rPr sz="1300" b="1">
                          <a:solidFill>
                            <a:srgbClr val="1F2A24"/>
                          </a:solidFill>
                          <a:latin typeface="Calibri"/>
                        </a:rPr>
                        <a:t>Spanduk &amp; administrasi</a:t>
                      </a:r>
                    </a:p>
                  </a:txBody>
                  <a:tcPr anchor="ctr" marL="73152" marR="73152">
                    <a:solidFill>
                      <a:srgbClr val="F1F7EF"/>
                    </a:solidFill>
                  </a:tcPr>
                </a:tc>
                <a:tc>
                  <a:txBody>
                    <a:bodyPr/>
                    <a:lstStyle/>
                    <a:p>
                      <a:pPr algn="l"/>
                      <a:r>
                        <a:rPr sz="1300" b="0">
                          <a:solidFill>
                            <a:srgbClr val="1F2A24"/>
                          </a:solidFill>
                          <a:latin typeface="Calibri"/>
                        </a:rPr>
                        <a:t>Spanduk program, buku catatan, kontak</a:t>
                      </a:r>
                    </a:p>
                  </a:txBody>
                  <a:tcPr anchor="ctr" marL="73152" marR="73152">
                    <a:solidFill>
                      <a:srgbClr val="F1F7EF"/>
                    </a:solidFill>
                  </a:tcPr>
                </a:tc>
                <a:tc>
                  <a:txBody>
                    <a:bodyPr/>
                    <a:lstStyle/>
                    <a:p>
                      <a:pPr algn="r"/>
                      <a:r>
                        <a:rPr sz="1300" b="0">
                          <a:solidFill>
                            <a:srgbClr val="1F2A24"/>
                          </a:solidFill>
                          <a:latin typeface="Calibri"/>
                        </a:rPr>
                        <a:t>Rp150.000</a:t>
                      </a:r>
                    </a:p>
                  </a:txBody>
                  <a:tcPr anchor="ctr" marL="73152" marR="73152">
                    <a:solidFill>
                      <a:srgbClr val="F1F7EF"/>
                    </a:solidFill>
                  </a:tcPr>
                </a:tc>
              </a:tr>
              <a:tr h="384048">
                <a:tc>
                  <a:txBody>
                    <a:bodyPr/>
                    <a:lstStyle/>
                    <a:p>
                      <a:pPr algn="ctr"/>
                      <a:r>
                        <a:rPr sz="1300" b="0">
                          <a:solidFill>
                            <a:srgbClr val="1F2A24"/>
                          </a:solidFill>
                          <a:latin typeface="Calibri"/>
                        </a:rPr>
                        <a:t>7</a:t>
                      </a:r>
                    </a:p>
                  </a:txBody>
                  <a:tcPr anchor="ctr" marL="73152" marR="73152">
                    <a:solidFill>
                      <a:srgbClr val="FFFFFF"/>
                    </a:solidFill>
                  </a:tcPr>
                </a:tc>
                <a:tc>
                  <a:txBody>
                    <a:bodyPr/>
                    <a:lstStyle/>
                    <a:p>
                      <a:pPr algn="l"/>
                      <a:r>
                        <a:rPr sz="1300" b="1">
                          <a:solidFill>
                            <a:srgbClr val="1F2A24"/>
                          </a:solidFill>
                          <a:latin typeface="Calibri"/>
                        </a:rPr>
                        <a:t>Cadangan tak terduga</a:t>
                      </a:r>
                    </a:p>
                  </a:txBody>
                  <a:tcPr anchor="ctr" marL="73152" marR="73152">
                    <a:solidFill>
                      <a:srgbClr val="FFFFFF"/>
                    </a:solidFill>
                  </a:tcPr>
                </a:tc>
                <a:tc>
                  <a:txBody>
                    <a:bodyPr/>
                    <a:lstStyle/>
                    <a:p>
                      <a:pPr algn="l"/>
                      <a:r>
                        <a:rPr sz="1300" b="0">
                          <a:solidFill>
                            <a:srgbClr val="1F2A24"/>
                          </a:solidFill>
                          <a:latin typeface="Calibri"/>
                        </a:rPr>
                        <a:t>Alokasi ~10%</a:t>
                      </a:r>
                    </a:p>
                  </a:txBody>
                  <a:tcPr anchor="ctr" marL="73152" marR="73152">
                    <a:solidFill>
                      <a:srgbClr val="FFFFFF"/>
                    </a:solidFill>
                  </a:tcPr>
                </a:tc>
                <a:tc>
                  <a:txBody>
                    <a:bodyPr/>
                    <a:lstStyle/>
                    <a:p>
                      <a:pPr algn="r"/>
                      <a:r>
                        <a:rPr sz="1300" b="0">
                          <a:solidFill>
                            <a:srgbClr val="1F2A24"/>
                          </a:solidFill>
                          <a:latin typeface="Calibri"/>
                        </a:rPr>
                        <a:t>Rp150.000</a:t>
                      </a:r>
                    </a:p>
                  </a:txBody>
                  <a:tcPr anchor="ctr" marL="73152" marR="73152">
                    <a:solidFill>
                      <a:srgbClr val="FFFFFF"/>
                    </a:solidFill>
                  </a:tcPr>
                </a:tc>
              </a:tr>
            </a:tbl>
          </a:graphicData>
        </a:graphic>
      </p:graphicFrame>
      <p:sp>
        <p:nvSpPr>
          <p:cNvPr id="5" name="Rounded Rectangle 4"/>
          <p:cNvSpPr/>
          <p:nvPr/>
        </p:nvSpPr>
        <p:spPr>
          <a:xfrm>
            <a:off x="640080" y="4828031"/>
            <a:ext cx="10908792" cy="566928"/>
          </a:xfrm>
          <a:prstGeom prst="roundRect">
            <a:avLst>
              <a:gd name="adj" fmla="val 12000"/>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14400" y="4901183"/>
            <a:ext cx="5029200" cy="420624"/>
          </a:xfrm>
          <a:prstGeom prst="rect">
            <a:avLst/>
          </a:prstGeom>
          <a:noFill/>
        </p:spPr>
        <p:txBody>
          <a:bodyPr wrap="square" anchor="ctr">
            <a:spAutoFit/>
          </a:bodyPr>
          <a:lstStyle/>
          <a:p>
            <a:pPr algn="l">
              <a:lnSpc>
                <a:spcPct val="105000"/>
              </a:lnSpc>
              <a:spcAft>
                <a:spcPts val="0"/>
              </a:spcAft>
            </a:pPr>
            <a:r>
              <a:rPr sz="1600" b="1">
                <a:solidFill>
                  <a:srgbClr val="FFFFFF"/>
                </a:solidFill>
                <a:latin typeface="Calibri"/>
              </a:rPr>
              <a:t>TOTAL ESTIMASI</a:t>
            </a:r>
          </a:p>
        </p:txBody>
      </p:sp>
      <p:sp>
        <p:nvSpPr>
          <p:cNvPr id="7" name="TextBox 6"/>
          <p:cNvSpPr txBox="1"/>
          <p:nvPr/>
        </p:nvSpPr>
        <p:spPr>
          <a:xfrm>
            <a:off x="6217920" y="4882895"/>
            <a:ext cx="5074920" cy="457200"/>
          </a:xfrm>
          <a:prstGeom prst="rect">
            <a:avLst/>
          </a:prstGeom>
          <a:noFill/>
        </p:spPr>
        <p:txBody>
          <a:bodyPr wrap="square" anchor="ctr">
            <a:spAutoFit/>
          </a:bodyPr>
          <a:lstStyle/>
          <a:p>
            <a:pPr algn="r">
              <a:lnSpc>
                <a:spcPct val="105000"/>
              </a:lnSpc>
              <a:spcAft>
                <a:spcPts val="0"/>
              </a:spcAft>
            </a:pPr>
            <a:r>
              <a:rPr sz="1900" b="1">
                <a:solidFill>
                  <a:srgbClr val="F9A825"/>
                </a:solidFill>
                <a:latin typeface="Calibri"/>
              </a:rPr>
              <a:t>Rp1.670.000</a:t>
            </a:r>
          </a:p>
        </p:txBody>
      </p:sp>
      <p:sp>
        <p:nvSpPr>
          <p:cNvPr id="8" name="TextBox 7"/>
          <p:cNvSpPr txBox="1"/>
          <p:nvPr/>
        </p:nvSpPr>
        <p:spPr>
          <a:xfrm>
            <a:off x="640080" y="5513831"/>
            <a:ext cx="10908792" cy="548640"/>
          </a:xfrm>
          <a:prstGeom prst="rect">
            <a:avLst/>
          </a:prstGeom>
          <a:noFill/>
        </p:spPr>
        <p:txBody>
          <a:bodyPr wrap="square" anchor="t">
            <a:spAutoFit/>
          </a:bodyPr>
          <a:lstStyle/>
          <a:p>
            <a:pPr algn="ctr">
              <a:lnSpc>
                <a:spcPct val="110000"/>
              </a:lnSpc>
              <a:spcAft>
                <a:spcPts val="0"/>
              </a:spcAft>
            </a:pPr>
            <a:r>
              <a:rPr sz="1300" b="0">
                <a:solidFill>
                  <a:srgbClr val="5C6B60"/>
                </a:solidFill>
                <a:latin typeface="Calibri"/>
              </a:rPr>
              <a:t>Setara Rp85.000 - Rp167.000 per KK (untuk 20 - 10 KK) | Kebutuhan lahan: memanfaatkan halaman &amp; lahan komunal yang sudah ada</a:t>
            </a:r>
          </a:p>
        </p:txBody>
      </p:sp>
      <p:sp>
        <p:nvSpPr>
          <p:cNvPr id="9" name="TextBox 8"/>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0" name="TextBox 9"/>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Sumber Dana &amp; Paket Sponsor Mikro</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640080" y="1645920"/>
            <a:ext cx="3423818" cy="38862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640080" y="1645920"/>
            <a:ext cx="3423818" cy="54864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50" b="1">
                <a:solidFill>
                  <a:srgbClr val="FFFFFF"/>
                </a:solidFill>
                <a:latin typeface="Calibri"/>
              </a:rPr>
              <a:t>Kawan Kebun</a:t>
            </a:r>
          </a:p>
        </p:txBody>
      </p:sp>
      <p:sp>
        <p:nvSpPr>
          <p:cNvPr id="6" name="TextBox 5"/>
          <p:cNvSpPr txBox="1"/>
          <p:nvPr/>
        </p:nvSpPr>
        <p:spPr>
          <a:xfrm>
            <a:off x="822959" y="2395728"/>
            <a:ext cx="3058058" cy="548640"/>
          </a:xfrm>
          <a:prstGeom prst="rect">
            <a:avLst/>
          </a:prstGeom>
          <a:noFill/>
        </p:spPr>
        <p:txBody>
          <a:bodyPr wrap="square" anchor="t">
            <a:spAutoFit/>
          </a:bodyPr>
          <a:lstStyle/>
          <a:p>
            <a:pPr algn="ctr">
              <a:lnSpc>
                <a:spcPct val="105000"/>
              </a:lnSpc>
              <a:spcAft>
                <a:spcPts val="0"/>
              </a:spcAft>
            </a:pPr>
            <a:r>
              <a:rPr sz="2600" b="1">
                <a:solidFill>
                  <a:srgbClr val="1B5E20"/>
                </a:solidFill>
                <a:latin typeface="Calibri"/>
              </a:rPr>
              <a:t>Rp250.000</a:t>
            </a:r>
          </a:p>
        </p:txBody>
      </p:sp>
      <p:sp>
        <p:nvSpPr>
          <p:cNvPr id="7" name="TextBox 6"/>
          <p:cNvSpPr txBox="1"/>
          <p:nvPr/>
        </p:nvSpPr>
        <p:spPr>
          <a:xfrm>
            <a:off x="932688" y="3200400"/>
            <a:ext cx="2875178" cy="2103120"/>
          </a:xfrm>
          <a:prstGeom prst="rect">
            <a:avLst/>
          </a:prstGeom>
          <a:noFill/>
        </p:spPr>
        <p:txBody>
          <a:bodyPr wrap="square" anchor="t">
            <a:spAutoFit/>
          </a:bodyPr>
          <a:lstStyle/>
          <a:p>
            <a:pPr>
              <a:lnSpc>
                <a:spcPct val="108000"/>
              </a:lnSpc>
              <a:spcAft>
                <a:spcPts val="800"/>
              </a:spcAft>
            </a:pPr>
            <a:r>
              <a:rPr sz="1350" b="1">
                <a:solidFill>
                  <a:srgbClr val="7CB342"/>
                </a:solidFill>
                <a:latin typeface="Calibri"/>
              </a:rPr>
              <a:t>•  </a:t>
            </a:r>
            <a:r>
              <a:rPr sz="1350" b="0">
                <a:solidFill>
                  <a:srgbClr val="1F2A24"/>
                </a:solidFill>
                <a:latin typeface="Calibri"/>
              </a:rPr>
              <a:t>Penyebutan di spanduk program</a:t>
            </a:r>
          </a:p>
          <a:p>
            <a:pPr>
              <a:lnSpc>
                <a:spcPct val="108000"/>
              </a:lnSpc>
              <a:spcAft>
                <a:spcPts val="800"/>
              </a:spcAft>
            </a:pPr>
            <a:r>
              <a:rPr sz="1350" b="1">
                <a:solidFill>
                  <a:srgbClr val="7CB342"/>
                </a:solidFill>
                <a:latin typeface="Calibri"/>
              </a:rPr>
              <a:t>•  </a:t>
            </a:r>
            <a:r>
              <a:rPr sz="1350" b="0">
                <a:solidFill>
                  <a:srgbClr val="1F2A24"/>
                </a:solidFill>
                <a:latin typeface="Calibri"/>
              </a:rPr>
              <a:t>Laporan foto hasil panen</a:t>
            </a:r>
          </a:p>
          <a:p>
            <a:pPr>
              <a:lnSpc>
                <a:spcPct val="108000"/>
              </a:lnSpc>
              <a:spcAft>
                <a:spcPts val="800"/>
              </a:spcAft>
            </a:pPr>
            <a:r>
              <a:rPr sz="1350" b="1">
                <a:solidFill>
                  <a:srgbClr val="7CB342"/>
                </a:solidFill>
                <a:latin typeface="Calibri"/>
              </a:rPr>
              <a:t>•  </a:t>
            </a:r>
            <a:r>
              <a:rPr sz="1350" b="0">
                <a:solidFill>
                  <a:srgbClr val="1F2A24"/>
                </a:solidFill>
                <a:latin typeface="Calibri"/>
              </a:rPr>
              <a:t>Ucapan terima kasih di grup WA RT</a:t>
            </a:r>
          </a:p>
        </p:txBody>
      </p:sp>
      <p:sp>
        <p:nvSpPr>
          <p:cNvPr id="8" name="Rounded Rectangle 7"/>
          <p:cNvSpPr/>
          <p:nvPr/>
        </p:nvSpPr>
        <p:spPr>
          <a:xfrm>
            <a:off x="4383938" y="1645920"/>
            <a:ext cx="3423818" cy="38862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4383938" y="1645920"/>
            <a:ext cx="3423818" cy="54864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50" b="1">
                <a:solidFill>
                  <a:srgbClr val="FFFFFF"/>
                </a:solidFill>
                <a:latin typeface="Calibri"/>
              </a:rPr>
              <a:t>Mitra Hijau</a:t>
            </a:r>
          </a:p>
        </p:txBody>
      </p:sp>
      <p:sp>
        <p:nvSpPr>
          <p:cNvPr id="10" name="TextBox 9"/>
          <p:cNvSpPr txBox="1"/>
          <p:nvPr/>
        </p:nvSpPr>
        <p:spPr>
          <a:xfrm>
            <a:off x="4566818" y="2395728"/>
            <a:ext cx="3058058" cy="548640"/>
          </a:xfrm>
          <a:prstGeom prst="rect">
            <a:avLst/>
          </a:prstGeom>
          <a:noFill/>
        </p:spPr>
        <p:txBody>
          <a:bodyPr wrap="square" anchor="t">
            <a:spAutoFit/>
          </a:bodyPr>
          <a:lstStyle/>
          <a:p>
            <a:pPr algn="ctr">
              <a:lnSpc>
                <a:spcPct val="105000"/>
              </a:lnSpc>
              <a:spcAft>
                <a:spcPts val="0"/>
              </a:spcAft>
            </a:pPr>
            <a:r>
              <a:rPr sz="2600" b="1">
                <a:solidFill>
                  <a:srgbClr val="1B5E20"/>
                </a:solidFill>
                <a:latin typeface="Calibri"/>
              </a:rPr>
              <a:t>Rp500.000</a:t>
            </a:r>
          </a:p>
        </p:txBody>
      </p:sp>
      <p:sp>
        <p:nvSpPr>
          <p:cNvPr id="11" name="TextBox 10"/>
          <p:cNvSpPr txBox="1"/>
          <p:nvPr/>
        </p:nvSpPr>
        <p:spPr>
          <a:xfrm>
            <a:off x="4676546" y="3200400"/>
            <a:ext cx="2875178" cy="2103120"/>
          </a:xfrm>
          <a:prstGeom prst="rect">
            <a:avLst/>
          </a:prstGeom>
          <a:noFill/>
        </p:spPr>
        <p:txBody>
          <a:bodyPr wrap="square" anchor="t">
            <a:spAutoFit/>
          </a:bodyPr>
          <a:lstStyle/>
          <a:p>
            <a:pPr>
              <a:lnSpc>
                <a:spcPct val="108000"/>
              </a:lnSpc>
              <a:spcAft>
                <a:spcPts val="800"/>
              </a:spcAft>
            </a:pPr>
            <a:r>
              <a:rPr sz="1350" b="1">
                <a:solidFill>
                  <a:srgbClr val="7CB342"/>
                </a:solidFill>
                <a:latin typeface="Calibri"/>
              </a:rPr>
              <a:t>•  </a:t>
            </a:r>
            <a:r>
              <a:rPr sz="1350" b="0">
                <a:solidFill>
                  <a:srgbClr val="1F2A24"/>
                </a:solidFill>
                <a:latin typeface="Calibri"/>
              </a:rPr>
              <a:t>Semua manfaat Kawan Kebun</a:t>
            </a:r>
          </a:p>
          <a:p>
            <a:pPr>
              <a:lnSpc>
                <a:spcPct val="108000"/>
              </a:lnSpc>
              <a:spcAft>
                <a:spcPts val="800"/>
              </a:spcAft>
            </a:pPr>
            <a:r>
              <a:rPr sz="1350" b="1">
                <a:solidFill>
                  <a:srgbClr val="7CB342"/>
                </a:solidFill>
                <a:latin typeface="Calibri"/>
              </a:rPr>
              <a:t>•  </a:t>
            </a:r>
            <a:r>
              <a:rPr sz="1350" b="0">
                <a:solidFill>
                  <a:srgbClr val="1F2A24"/>
                </a:solidFill>
                <a:latin typeface="Calibri"/>
              </a:rPr>
              <a:t>Papan nama bedeng kebun</a:t>
            </a:r>
          </a:p>
          <a:p>
            <a:pPr>
              <a:lnSpc>
                <a:spcPct val="108000"/>
              </a:lnSpc>
              <a:spcAft>
                <a:spcPts val="800"/>
              </a:spcAft>
            </a:pPr>
            <a:r>
              <a:rPr sz="1350" b="1">
                <a:solidFill>
                  <a:srgbClr val="7CB342"/>
                </a:solidFill>
                <a:latin typeface="Calibri"/>
              </a:rPr>
              <a:t>•  </a:t>
            </a:r>
            <a:r>
              <a:rPr sz="1350" b="0">
                <a:solidFill>
                  <a:srgbClr val="1F2A24"/>
                </a:solidFill>
                <a:latin typeface="Calibri"/>
              </a:rPr>
              <a:t>Promosi di grup &amp; papan info RT</a:t>
            </a:r>
          </a:p>
        </p:txBody>
      </p:sp>
      <p:sp>
        <p:nvSpPr>
          <p:cNvPr id="12" name="Rounded Rectangle 11"/>
          <p:cNvSpPr/>
          <p:nvPr/>
        </p:nvSpPr>
        <p:spPr>
          <a:xfrm>
            <a:off x="8127796" y="1645920"/>
            <a:ext cx="3423818" cy="38862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8127796" y="1645920"/>
            <a:ext cx="3423818" cy="54864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50" b="1">
                <a:solidFill>
                  <a:srgbClr val="FFFFFF"/>
                </a:solidFill>
                <a:latin typeface="Calibri"/>
              </a:rPr>
              <a:t>Patron Panen</a:t>
            </a:r>
          </a:p>
        </p:txBody>
      </p:sp>
      <p:sp>
        <p:nvSpPr>
          <p:cNvPr id="14" name="TextBox 13"/>
          <p:cNvSpPr txBox="1"/>
          <p:nvPr/>
        </p:nvSpPr>
        <p:spPr>
          <a:xfrm>
            <a:off x="8310676" y="2395728"/>
            <a:ext cx="3058058" cy="548640"/>
          </a:xfrm>
          <a:prstGeom prst="rect">
            <a:avLst/>
          </a:prstGeom>
          <a:noFill/>
        </p:spPr>
        <p:txBody>
          <a:bodyPr wrap="square" anchor="t">
            <a:spAutoFit/>
          </a:bodyPr>
          <a:lstStyle/>
          <a:p>
            <a:pPr algn="ctr">
              <a:lnSpc>
                <a:spcPct val="105000"/>
              </a:lnSpc>
              <a:spcAft>
                <a:spcPts val="0"/>
              </a:spcAft>
            </a:pPr>
            <a:r>
              <a:rPr sz="2600" b="1">
                <a:solidFill>
                  <a:srgbClr val="1B5E20"/>
                </a:solidFill>
                <a:latin typeface="Calibri"/>
              </a:rPr>
              <a:t>Rp1.000.000</a:t>
            </a:r>
          </a:p>
        </p:txBody>
      </p:sp>
      <p:sp>
        <p:nvSpPr>
          <p:cNvPr id="15" name="TextBox 14"/>
          <p:cNvSpPr txBox="1"/>
          <p:nvPr/>
        </p:nvSpPr>
        <p:spPr>
          <a:xfrm>
            <a:off x="8420404" y="3200400"/>
            <a:ext cx="2875178" cy="2103120"/>
          </a:xfrm>
          <a:prstGeom prst="rect">
            <a:avLst/>
          </a:prstGeom>
          <a:noFill/>
        </p:spPr>
        <p:txBody>
          <a:bodyPr wrap="square" anchor="t">
            <a:spAutoFit/>
          </a:bodyPr>
          <a:lstStyle/>
          <a:p>
            <a:pPr>
              <a:lnSpc>
                <a:spcPct val="108000"/>
              </a:lnSpc>
              <a:spcAft>
                <a:spcPts val="800"/>
              </a:spcAft>
            </a:pPr>
            <a:r>
              <a:rPr sz="1350" b="1">
                <a:solidFill>
                  <a:srgbClr val="7CB342"/>
                </a:solidFill>
                <a:latin typeface="Calibri"/>
              </a:rPr>
              <a:t>•  </a:t>
            </a:r>
            <a:r>
              <a:rPr sz="1350" b="0">
                <a:solidFill>
                  <a:srgbClr val="1F2A24"/>
                </a:solidFill>
                <a:latin typeface="Calibri"/>
              </a:rPr>
              <a:t>Semua manfaat Mitra Hijau</a:t>
            </a:r>
          </a:p>
          <a:p>
            <a:pPr>
              <a:lnSpc>
                <a:spcPct val="108000"/>
              </a:lnSpc>
              <a:spcAft>
                <a:spcPts val="800"/>
              </a:spcAft>
            </a:pPr>
            <a:r>
              <a:rPr sz="1350" b="1">
                <a:solidFill>
                  <a:srgbClr val="7CB342"/>
                </a:solidFill>
                <a:latin typeface="Calibri"/>
              </a:rPr>
              <a:t>•  </a:t>
            </a:r>
            <a:r>
              <a:rPr sz="1350" b="0">
                <a:solidFill>
                  <a:srgbClr val="1F2A24"/>
                </a:solidFill>
                <a:latin typeface="Calibri"/>
              </a:rPr>
              <a:t>Nama disematkan di kebun</a:t>
            </a:r>
          </a:p>
          <a:p>
            <a:pPr>
              <a:lnSpc>
                <a:spcPct val="108000"/>
              </a:lnSpc>
              <a:spcAft>
                <a:spcPts val="800"/>
              </a:spcAft>
            </a:pPr>
            <a:r>
              <a:rPr sz="1350" b="1">
                <a:solidFill>
                  <a:srgbClr val="7CB342"/>
                </a:solidFill>
                <a:latin typeface="Calibri"/>
              </a:rPr>
              <a:t>•  </a:t>
            </a:r>
            <a:r>
              <a:rPr sz="1350" b="0">
                <a:solidFill>
                  <a:srgbClr val="1F2A24"/>
                </a:solidFill>
                <a:latin typeface="Calibri"/>
              </a:rPr>
              <a:t>Undangan khusus panen perdana</a:t>
            </a:r>
          </a:p>
        </p:txBody>
      </p:sp>
      <p:sp>
        <p:nvSpPr>
          <p:cNvPr id="16" name="Rounded Rectangle 15"/>
          <p:cNvSpPr/>
          <p:nvPr/>
        </p:nvSpPr>
        <p:spPr>
          <a:xfrm>
            <a:off x="640080" y="5760720"/>
            <a:ext cx="10911535" cy="502920"/>
          </a:xfrm>
          <a:prstGeom prst="roundRect">
            <a:avLst>
              <a:gd name="adj" fmla="val 30000"/>
            </a:avLst>
          </a:prstGeom>
          <a:solidFill>
            <a:srgbClr val="FFF8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B5E20"/>
                </a:solidFill>
                <a:latin typeface="Calibri"/>
              </a:rPr>
              <a:t>Dana bersumber dari: kas RT/RW + iuran peserta ringan + sponsor mikro pengusaha lokal</a:t>
            </a:r>
          </a:p>
        </p:txBody>
      </p:sp>
      <p:sp>
        <p:nvSpPr>
          <p:cNvPr id="17" name="TextBox 16"/>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8" name="TextBox 17"/>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Manfaat Langsung bagi Warga</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914400" y="1645920"/>
            <a:ext cx="4952847" cy="43434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914400" y="1645920"/>
            <a:ext cx="4952847" cy="621792"/>
          </a:xfrm>
          <a:prstGeom prst="roundRect">
            <a:avLst>
              <a:gd name="adj" fmla="val 1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latin typeface="Calibri"/>
              </a:rPr>
              <a:t>Isi Dompet</a:t>
            </a:r>
          </a:p>
        </p:txBody>
      </p:sp>
      <p:sp>
        <p:nvSpPr>
          <p:cNvPr id="6" name="TextBox 5"/>
          <p:cNvSpPr txBox="1"/>
          <p:nvPr/>
        </p:nvSpPr>
        <p:spPr>
          <a:xfrm>
            <a:off x="1325880" y="2606040"/>
            <a:ext cx="4175607" cy="3108960"/>
          </a:xfrm>
          <a:prstGeom prst="rect">
            <a:avLst/>
          </a:prstGeom>
          <a:noFill/>
        </p:spPr>
        <p:txBody>
          <a:bodyPr wrap="square" anchor="t">
            <a:spAutoFit/>
          </a:bodyPr>
          <a:lstStyle/>
          <a:p>
            <a:pPr>
              <a:lnSpc>
                <a:spcPct val="108000"/>
              </a:lnSpc>
              <a:spcAft>
                <a:spcPts val="1300"/>
              </a:spcAft>
            </a:pPr>
            <a:r>
              <a:rPr sz="1550" b="1">
                <a:solidFill>
                  <a:srgbClr val="7CB342"/>
                </a:solidFill>
                <a:latin typeface="Calibri"/>
              </a:rPr>
              <a:t>•  </a:t>
            </a:r>
            <a:r>
              <a:rPr sz="1550" b="0">
                <a:solidFill>
                  <a:srgbClr val="1F2A24"/>
                </a:solidFill>
                <a:latin typeface="Calibri"/>
              </a:rPr>
              <a:t>Hemat hingga Rp2,7 juta/tahun</a:t>
            </a:r>
          </a:p>
          <a:p>
            <a:pPr>
              <a:lnSpc>
                <a:spcPct val="108000"/>
              </a:lnSpc>
              <a:spcAft>
                <a:spcPts val="1300"/>
              </a:spcAft>
            </a:pPr>
            <a:r>
              <a:rPr sz="1550" b="1">
                <a:solidFill>
                  <a:srgbClr val="7CB342"/>
                </a:solidFill>
                <a:latin typeface="Calibri"/>
              </a:rPr>
              <a:t>•  </a:t>
            </a:r>
            <a:r>
              <a:rPr sz="1550" b="0">
                <a:solidFill>
                  <a:srgbClr val="1F2A24"/>
                </a:solidFill>
                <a:latin typeface="Calibri"/>
              </a:rPr>
              <a:t>Sayur &amp; bumbu gratis tiap panen</a:t>
            </a:r>
          </a:p>
          <a:p>
            <a:pPr>
              <a:lnSpc>
                <a:spcPct val="108000"/>
              </a:lnSpc>
              <a:spcAft>
                <a:spcPts val="1300"/>
              </a:spcAft>
            </a:pPr>
            <a:r>
              <a:rPr sz="1550" b="1">
                <a:solidFill>
                  <a:srgbClr val="7CB342"/>
                </a:solidFill>
                <a:latin typeface="Calibri"/>
              </a:rPr>
              <a:t>•  </a:t>
            </a:r>
            <a:r>
              <a:rPr sz="1550" b="0">
                <a:solidFill>
                  <a:srgbClr val="1F2A24"/>
                </a:solidFill>
                <a:latin typeface="Calibri"/>
              </a:rPr>
              <a:t>Kompos gratis, tak beli pupuk</a:t>
            </a:r>
          </a:p>
          <a:p>
            <a:pPr>
              <a:lnSpc>
                <a:spcPct val="108000"/>
              </a:lnSpc>
              <a:spcAft>
                <a:spcPts val="1300"/>
              </a:spcAft>
            </a:pPr>
            <a:r>
              <a:rPr sz="1550" b="1">
                <a:solidFill>
                  <a:srgbClr val="7CB342"/>
                </a:solidFill>
                <a:latin typeface="Calibri"/>
              </a:rPr>
              <a:t>•  </a:t>
            </a:r>
            <a:r>
              <a:rPr sz="1550" b="0">
                <a:solidFill>
                  <a:srgbClr val="1F2A24"/>
                </a:solidFill>
                <a:latin typeface="Calibri"/>
              </a:rPr>
              <a:t>Peluang jualan sayur warga</a:t>
            </a:r>
          </a:p>
        </p:txBody>
      </p:sp>
      <p:sp>
        <p:nvSpPr>
          <p:cNvPr id="7" name="Rounded Rectangle 6"/>
          <p:cNvSpPr/>
          <p:nvPr/>
        </p:nvSpPr>
        <p:spPr>
          <a:xfrm>
            <a:off x="6324447" y="1645920"/>
            <a:ext cx="4952847" cy="4343400"/>
          </a:xfrm>
          <a:prstGeom prst="roundRect">
            <a:avLst>
              <a:gd name="adj" fmla="val 6000"/>
            </a:avLst>
          </a:prstGeom>
          <a:solidFill>
            <a:srgbClr val="FFFFFF"/>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6324447" y="1645920"/>
            <a:ext cx="4952847" cy="621792"/>
          </a:xfrm>
          <a:prstGeom prst="roundRect">
            <a:avLst>
              <a:gd name="adj" fmla="val 1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1F2A24"/>
                </a:solidFill>
                <a:latin typeface="Calibri"/>
              </a:rPr>
              <a:t>Kualitas Hidup</a:t>
            </a:r>
          </a:p>
        </p:txBody>
      </p:sp>
      <p:sp>
        <p:nvSpPr>
          <p:cNvPr id="9" name="TextBox 8"/>
          <p:cNvSpPr txBox="1"/>
          <p:nvPr/>
        </p:nvSpPr>
        <p:spPr>
          <a:xfrm>
            <a:off x="6735927" y="2606040"/>
            <a:ext cx="4175607" cy="3108960"/>
          </a:xfrm>
          <a:prstGeom prst="rect">
            <a:avLst/>
          </a:prstGeom>
          <a:noFill/>
        </p:spPr>
        <p:txBody>
          <a:bodyPr wrap="square" anchor="t">
            <a:spAutoFit/>
          </a:bodyPr>
          <a:lstStyle/>
          <a:p>
            <a:pPr>
              <a:lnSpc>
                <a:spcPct val="108000"/>
              </a:lnSpc>
              <a:spcAft>
                <a:spcPts val="1300"/>
              </a:spcAft>
            </a:pPr>
            <a:r>
              <a:rPr sz="1550" b="1">
                <a:solidFill>
                  <a:srgbClr val="7CB342"/>
                </a:solidFill>
                <a:latin typeface="Calibri"/>
              </a:rPr>
              <a:t>•  </a:t>
            </a:r>
            <a:r>
              <a:rPr sz="1550" b="0">
                <a:solidFill>
                  <a:srgbClr val="1F2A24"/>
                </a:solidFill>
                <a:latin typeface="Calibri"/>
              </a:rPr>
              <a:t>Sayur segar tanpa pestisida</a:t>
            </a:r>
          </a:p>
          <a:p>
            <a:pPr>
              <a:lnSpc>
                <a:spcPct val="108000"/>
              </a:lnSpc>
              <a:spcAft>
                <a:spcPts val="1300"/>
              </a:spcAft>
            </a:pPr>
            <a:r>
              <a:rPr sz="1550" b="1">
                <a:solidFill>
                  <a:srgbClr val="7CB342"/>
                </a:solidFill>
                <a:latin typeface="Calibri"/>
              </a:rPr>
              <a:t>•  </a:t>
            </a:r>
            <a:r>
              <a:rPr sz="1550" b="0">
                <a:solidFill>
                  <a:srgbClr val="1F2A24"/>
                </a:solidFill>
                <a:latin typeface="Calibri"/>
              </a:rPr>
              <a:t>Halaman rapi &amp; sejuk</a:t>
            </a:r>
          </a:p>
          <a:p>
            <a:pPr>
              <a:lnSpc>
                <a:spcPct val="108000"/>
              </a:lnSpc>
              <a:spcAft>
                <a:spcPts val="1300"/>
              </a:spcAft>
            </a:pPr>
            <a:r>
              <a:rPr sz="1550" b="1">
                <a:solidFill>
                  <a:srgbClr val="7CB342"/>
                </a:solidFill>
                <a:latin typeface="Calibri"/>
              </a:rPr>
              <a:t>•  </a:t>
            </a:r>
            <a:r>
              <a:rPr sz="1550" b="0">
                <a:solidFill>
                  <a:srgbClr val="1F2A24"/>
                </a:solidFill>
                <a:latin typeface="Calibri"/>
              </a:rPr>
              <a:t>Waktu berkualitas bersama keluarga</a:t>
            </a:r>
          </a:p>
          <a:p>
            <a:pPr>
              <a:lnSpc>
                <a:spcPct val="108000"/>
              </a:lnSpc>
              <a:spcAft>
                <a:spcPts val="1300"/>
              </a:spcAft>
            </a:pPr>
            <a:r>
              <a:rPr sz="1550" b="1">
                <a:solidFill>
                  <a:srgbClr val="7CB342"/>
                </a:solidFill>
                <a:latin typeface="Calibri"/>
              </a:rPr>
              <a:t>•  </a:t>
            </a:r>
            <a:r>
              <a:rPr sz="1550" b="0">
                <a:solidFill>
                  <a:srgbClr val="1F2A24"/>
                </a:solidFill>
                <a:latin typeface="Calibri"/>
              </a:rPr>
              <a:t>Belajar berkebun untuk anak</a:t>
            </a:r>
          </a:p>
        </p:txBody>
      </p:sp>
      <p:sp>
        <p:nvSpPr>
          <p:cNvPr id="10" name="TextBox 9"/>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1" name="TextBox 10"/>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Risiko &amp; Cara Mengatasinya</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640080" y="1783080"/>
            <a:ext cx="3423818" cy="384048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68680" y="2148840"/>
            <a:ext cx="2966618" cy="777240"/>
          </a:xfrm>
          <a:prstGeom prst="rect">
            <a:avLst/>
          </a:prstGeom>
          <a:noFill/>
        </p:spPr>
        <p:txBody>
          <a:bodyPr wrap="square" anchor="t">
            <a:spAutoFit/>
          </a:bodyPr>
          <a:lstStyle/>
          <a:p>
            <a:pPr algn="ctr">
              <a:lnSpc>
                <a:spcPct val="110000"/>
              </a:lnSpc>
              <a:spcAft>
                <a:spcPts val="0"/>
              </a:spcAft>
            </a:pPr>
            <a:r>
              <a:rPr sz="1800" b="1">
                <a:solidFill>
                  <a:srgbClr val="1B5E20"/>
                </a:solidFill>
                <a:latin typeface="Calibri"/>
              </a:rPr>
              <a:t>Partisipasi rendah</a:t>
            </a:r>
          </a:p>
        </p:txBody>
      </p:sp>
      <p:sp>
        <p:nvSpPr>
          <p:cNvPr id="6" name="Rounded Rectangle 5"/>
          <p:cNvSpPr/>
          <p:nvPr/>
        </p:nvSpPr>
        <p:spPr>
          <a:xfrm>
            <a:off x="1757629" y="3154680"/>
            <a:ext cx="1188720" cy="384048"/>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SOLUSI</a:t>
            </a:r>
          </a:p>
        </p:txBody>
      </p:sp>
      <p:sp>
        <p:nvSpPr>
          <p:cNvPr id="7" name="TextBox 6"/>
          <p:cNvSpPr txBox="1"/>
          <p:nvPr/>
        </p:nvSpPr>
        <p:spPr>
          <a:xfrm>
            <a:off x="914400" y="3749039"/>
            <a:ext cx="2875178" cy="1645920"/>
          </a:xfrm>
          <a:prstGeom prst="rect">
            <a:avLst/>
          </a:prstGeom>
          <a:noFill/>
        </p:spPr>
        <p:txBody>
          <a:bodyPr wrap="square" anchor="t">
            <a:spAutoFit/>
          </a:bodyPr>
          <a:lstStyle/>
          <a:p>
            <a:pPr algn="ctr">
              <a:lnSpc>
                <a:spcPct val="120000"/>
              </a:lnSpc>
              <a:spcAft>
                <a:spcPts val="0"/>
              </a:spcAft>
            </a:pPr>
            <a:r>
              <a:rPr sz="1350" b="0">
                <a:solidFill>
                  <a:srgbClr val="5C6B60"/>
                </a:solidFill>
                <a:latin typeface="Calibri"/>
              </a:rPr>
              <a:t>Iuran ringan, jadwal piket fleksibel, kabar harian lewat grup WA</a:t>
            </a:r>
          </a:p>
        </p:txBody>
      </p:sp>
      <p:sp>
        <p:nvSpPr>
          <p:cNvPr id="8" name="Rounded Rectangle 7"/>
          <p:cNvSpPr/>
          <p:nvPr/>
        </p:nvSpPr>
        <p:spPr>
          <a:xfrm>
            <a:off x="4383938" y="1783080"/>
            <a:ext cx="3423818" cy="384048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612538" y="2148840"/>
            <a:ext cx="2966618" cy="777240"/>
          </a:xfrm>
          <a:prstGeom prst="rect">
            <a:avLst/>
          </a:prstGeom>
          <a:noFill/>
        </p:spPr>
        <p:txBody>
          <a:bodyPr wrap="square" anchor="t">
            <a:spAutoFit/>
          </a:bodyPr>
          <a:lstStyle/>
          <a:p>
            <a:pPr algn="ctr">
              <a:lnSpc>
                <a:spcPct val="110000"/>
              </a:lnSpc>
              <a:spcAft>
                <a:spcPts val="0"/>
              </a:spcAft>
            </a:pPr>
            <a:r>
              <a:rPr sz="1800" b="1">
                <a:solidFill>
                  <a:srgbClr val="1B5E20"/>
                </a:solidFill>
                <a:latin typeface="Calibri"/>
              </a:rPr>
              <a:t>Cuaca &amp; hama</a:t>
            </a:r>
          </a:p>
        </p:txBody>
      </p:sp>
      <p:sp>
        <p:nvSpPr>
          <p:cNvPr id="10" name="Rounded Rectangle 9"/>
          <p:cNvSpPr/>
          <p:nvPr/>
        </p:nvSpPr>
        <p:spPr>
          <a:xfrm>
            <a:off x="5501487" y="3154680"/>
            <a:ext cx="1188720" cy="384048"/>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SOLUSI</a:t>
            </a:r>
          </a:p>
        </p:txBody>
      </p:sp>
      <p:sp>
        <p:nvSpPr>
          <p:cNvPr id="11" name="TextBox 10"/>
          <p:cNvSpPr txBox="1"/>
          <p:nvPr/>
        </p:nvSpPr>
        <p:spPr>
          <a:xfrm>
            <a:off x="4658258" y="3749039"/>
            <a:ext cx="2875178" cy="1645920"/>
          </a:xfrm>
          <a:prstGeom prst="rect">
            <a:avLst/>
          </a:prstGeom>
          <a:noFill/>
        </p:spPr>
        <p:txBody>
          <a:bodyPr wrap="square" anchor="t">
            <a:spAutoFit/>
          </a:bodyPr>
          <a:lstStyle/>
          <a:p>
            <a:pPr algn="ctr">
              <a:lnSpc>
                <a:spcPct val="120000"/>
              </a:lnSpc>
              <a:spcAft>
                <a:spcPts val="0"/>
              </a:spcAft>
            </a:pPr>
            <a:r>
              <a:rPr sz="1350" b="0">
                <a:solidFill>
                  <a:srgbClr val="5C6B60"/>
                </a:solidFill>
                <a:latin typeface="Calibri"/>
              </a:rPr>
              <a:t>Tanam bertahap, naungan/paranet, pendampingan fasilitator</a:t>
            </a:r>
          </a:p>
        </p:txBody>
      </p:sp>
      <p:sp>
        <p:nvSpPr>
          <p:cNvPr id="12" name="Rounded Rectangle 11"/>
          <p:cNvSpPr/>
          <p:nvPr/>
        </p:nvSpPr>
        <p:spPr>
          <a:xfrm>
            <a:off x="8127796" y="1783080"/>
            <a:ext cx="3423818" cy="384048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356396" y="2148840"/>
            <a:ext cx="2966618" cy="777240"/>
          </a:xfrm>
          <a:prstGeom prst="rect">
            <a:avLst/>
          </a:prstGeom>
          <a:noFill/>
        </p:spPr>
        <p:txBody>
          <a:bodyPr wrap="square" anchor="t">
            <a:spAutoFit/>
          </a:bodyPr>
          <a:lstStyle/>
          <a:p>
            <a:pPr algn="ctr">
              <a:lnSpc>
                <a:spcPct val="110000"/>
              </a:lnSpc>
              <a:spcAft>
                <a:spcPts val="0"/>
              </a:spcAft>
            </a:pPr>
            <a:r>
              <a:rPr sz="1800" b="1">
                <a:solidFill>
                  <a:srgbClr val="1B5E20"/>
                </a:solidFill>
                <a:latin typeface="Calibri"/>
              </a:rPr>
              <a:t>Dana terbatas</a:t>
            </a:r>
          </a:p>
        </p:txBody>
      </p:sp>
      <p:sp>
        <p:nvSpPr>
          <p:cNvPr id="14" name="Rounded Rectangle 13"/>
          <p:cNvSpPr/>
          <p:nvPr/>
        </p:nvSpPr>
        <p:spPr>
          <a:xfrm>
            <a:off x="9245345" y="3154680"/>
            <a:ext cx="1188720" cy="384048"/>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SOLUSI</a:t>
            </a:r>
          </a:p>
        </p:txBody>
      </p:sp>
      <p:sp>
        <p:nvSpPr>
          <p:cNvPr id="15" name="TextBox 14"/>
          <p:cNvSpPr txBox="1"/>
          <p:nvPr/>
        </p:nvSpPr>
        <p:spPr>
          <a:xfrm>
            <a:off x="8402116" y="3749039"/>
            <a:ext cx="2875178" cy="1645920"/>
          </a:xfrm>
          <a:prstGeom prst="rect">
            <a:avLst/>
          </a:prstGeom>
          <a:noFill/>
        </p:spPr>
        <p:txBody>
          <a:bodyPr wrap="square" anchor="t">
            <a:spAutoFit/>
          </a:bodyPr>
          <a:lstStyle/>
          <a:p>
            <a:pPr algn="ctr">
              <a:lnSpc>
                <a:spcPct val="120000"/>
              </a:lnSpc>
              <a:spcAft>
                <a:spcPts val="0"/>
              </a:spcAft>
            </a:pPr>
            <a:r>
              <a:rPr sz="1350" b="0">
                <a:solidFill>
                  <a:srgbClr val="5C6B60"/>
                </a:solidFill>
                <a:latin typeface="Calibri"/>
              </a:rPr>
              <a:t>Sponsor mikro, kas RT/RW, skala bertahap mulai 10 KK</a:t>
            </a:r>
          </a:p>
        </p:txBody>
      </p:sp>
      <p:sp>
        <p:nvSpPr>
          <p:cNvPr id="16" name="TextBox 15"/>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7" name="TextBox 16"/>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66928"/>
            <a:ext cx="10911535" cy="566928"/>
          </a:xfrm>
          <a:prstGeom prst="rect">
            <a:avLst/>
          </a:prstGeom>
          <a:noFill/>
        </p:spPr>
        <p:txBody>
          <a:bodyPr wrap="square" anchor="t">
            <a:spAutoFit/>
          </a:bodyPr>
          <a:lstStyle/>
          <a:p>
            <a:pPr algn="l">
              <a:lnSpc>
                <a:spcPct val="105000"/>
              </a:lnSpc>
              <a:spcAft>
                <a:spcPts val="0"/>
              </a:spcAft>
            </a:pPr>
            <a:r>
              <a:rPr sz="3000" b="1">
                <a:solidFill>
                  <a:srgbClr val="1B5E20"/>
                </a:solidFill>
                <a:latin typeface="Calibri"/>
              </a:rPr>
              <a:t>Ukuran Keberhasilan &amp; Keberlanjutan</a:t>
            </a:r>
          </a:p>
        </p:txBody>
      </p:sp>
      <p:sp>
        <p:nvSpPr>
          <p:cNvPr id="3" name="Rounded Rectangle 2"/>
          <p:cNvSpPr/>
          <p:nvPr/>
        </p:nvSpPr>
        <p:spPr>
          <a:xfrm>
            <a:off x="640080" y="1207008"/>
            <a:ext cx="1371600" cy="64008"/>
          </a:xfrm>
          <a:prstGeom prst="roundRect">
            <a:avLst>
              <a:gd name="adj" fmla="val 50000"/>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640080" y="1600200"/>
            <a:ext cx="2522143" cy="214884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1874519"/>
            <a:ext cx="2247823" cy="594360"/>
          </a:xfrm>
          <a:prstGeom prst="rect">
            <a:avLst/>
          </a:prstGeom>
          <a:noFill/>
        </p:spPr>
        <p:txBody>
          <a:bodyPr wrap="square" anchor="t">
            <a:spAutoFit/>
          </a:bodyPr>
          <a:lstStyle/>
          <a:p>
            <a:pPr algn="ctr">
              <a:lnSpc>
                <a:spcPct val="105000"/>
              </a:lnSpc>
              <a:spcAft>
                <a:spcPts val="0"/>
              </a:spcAft>
            </a:pPr>
            <a:r>
              <a:rPr sz="3000" b="1">
                <a:solidFill>
                  <a:srgbClr val="2E7D32"/>
                </a:solidFill>
                <a:latin typeface="Calibri"/>
              </a:rPr>
              <a:t>10-20</a:t>
            </a:r>
          </a:p>
        </p:txBody>
      </p:sp>
      <p:sp>
        <p:nvSpPr>
          <p:cNvPr id="6" name="TextBox 5"/>
          <p:cNvSpPr txBox="1"/>
          <p:nvPr/>
        </p:nvSpPr>
        <p:spPr>
          <a:xfrm>
            <a:off x="822959" y="2606040"/>
            <a:ext cx="2156383" cy="1005840"/>
          </a:xfrm>
          <a:prstGeom prst="rect">
            <a:avLst/>
          </a:prstGeom>
          <a:noFill/>
        </p:spPr>
        <p:txBody>
          <a:bodyPr wrap="square" anchor="t">
            <a:spAutoFit/>
          </a:bodyPr>
          <a:lstStyle/>
          <a:p>
            <a:pPr algn="ctr">
              <a:lnSpc>
                <a:spcPct val="115000"/>
              </a:lnSpc>
              <a:spcAft>
                <a:spcPts val="0"/>
              </a:spcAft>
            </a:pPr>
            <a:r>
              <a:rPr sz="1250" b="0">
                <a:solidFill>
                  <a:srgbClr val="5C6B60"/>
                </a:solidFill>
                <a:latin typeface="Calibri"/>
              </a:rPr>
              <a:t>KK aktif berkebun &amp; menyetor sampah</a:t>
            </a:r>
          </a:p>
        </p:txBody>
      </p:sp>
      <p:sp>
        <p:nvSpPr>
          <p:cNvPr id="7" name="Rounded Rectangle 6"/>
          <p:cNvSpPr/>
          <p:nvPr/>
        </p:nvSpPr>
        <p:spPr>
          <a:xfrm>
            <a:off x="3436543" y="1600200"/>
            <a:ext cx="2522143" cy="214884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3573703" y="1874519"/>
            <a:ext cx="2247823" cy="594360"/>
          </a:xfrm>
          <a:prstGeom prst="rect">
            <a:avLst/>
          </a:prstGeom>
          <a:noFill/>
        </p:spPr>
        <p:txBody>
          <a:bodyPr wrap="square" anchor="t">
            <a:spAutoFit/>
          </a:bodyPr>
          <a:lstStyle/>
          <a:p>
            <a:pPr algn="ctr">
              <a:lnSpc>
                <a:spcPct val="105000"/>
              </a:lnSpc>
              <a:spcAft>
                <a:spcPts val="0"/>
              </a:spcAft>
            </a:pPr>
            <a:r>
              <a:rPr sz="3000" b="1">
                <a:solidFill>
                  <a:srgbClr val="2E7D32"/>
                </a:solidFill>
                <a:latin typeface="Calibri"/>
              </a:rPr>
              <a:t>4</a:t>
            </a:r>
          </a:p>
        </p:txBody>
      </p:sp>
      <p:sp>
        <p:nvSpPr>
          <p:cNvPr id="9" name="TextBox 8"/>
          <p:cNvSpPr txBox="1"/>
          <p:nvPr/>
        </p:nvSpPr>
        <p:spPr>
          <a:xfrm>
            <a:off x="3619423" y="2606040"/>
            <a:ext cx="2156383" cy="1005840"/>
          </a:xfrm>
          <a:prstGeom prst="rect">
            <a:avLst/>
          </a:prstGeom>
          <a:noFill/>
        </p:spPr>
        <p:txBody>
          <a:bodyPr wrap="square" anchor="t">
            <a:spAutoFit/>
          </a:bodyPr>
          <a:lstStyle/>
          <a:p>
            <a:pPr algn="ctr">
              <a:lnSpc>
                <a:spcPct val="115000"/>
              </a:lnSpc>
              <a:spcAft>
                <a:spcPts val="0"/>
              </a:spcAft>
            </a:pPr>
            <a:r>
              <a:rPr sz="1250" b="0">
                <a:solidFill>
                  <a:srgbClr val="5C6B60"/>
                </a:solidFill>
                <a:latin typeface="Calibri"/>
              </a:rPr>
              <a:t>Komposter aktif, sampah turun 21-42%</a:t>
            </a:r>
          </a:p>
        </p:txBody>
      </p:sp>
      <p:sp>
        <p:nvSpPr>
          <p:cNvPr id="10" name="Rounded Rectangle 9"/>
          <p:cNvSpPr/>
          <p:nvPr/>
        </p:nvSpPr>
        <p:spPr>
          <a:xfrm>
            <a:off x="6233007" y="1600200"/>
            <a:ext cx="2522143" cy="214884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370167" y="1874519"/>
            <a:ext cx="2247823" cy="594360"/>
          </a:xfrm>
          <a:prstGeom prst="rect">
            <a:avLst/>
          </a:prstGeom>
          <a:noFill/>
        </p:spPr>
        <p:txBody>
          <a:bodyPr wrap="square" anchor="t">
            <a:spAutoFit/>
          </a:bodyPr>
          <a:lstStyle/>
          <a:p>
            <a:pPr algn="ctr">
              <a:lnSpc>
                <a:spcPct val="105000"/>
              </a:lnSpc>
              <a:spcAft>
                <a:spcPts val="0"/>
              </a:spcAft>
            </a:pPr>
            <a:r>
              <a:rPr sz="3000" b="1">
                <a:solidFill>
                  <a:srgbClr val="2E7D32"/>
                </a:solidFill>
                <a:latin typeface="Calibri"/>
              </a:rPr>
              <a:t>25+ kg</a:t>
            </a:r>
          </a:p>
        </p:txBody>
      </p:sp>
      <p:sp>
        <p:nvSpPr>
          <p:cNvPr id="12" name="TextBox 11"/>
          <p:cNvSpPr txBox="1"/>
          <p:nvPr/>
        </p:nvSpPr>
        <p:spPr>
          <a:xfrm>
            <a:off x="6415887" y="2606040"/>
            <a:ext cx="2156383" cy="1005840"/>
          </a:xfrm>
          <a:prstGeom prst="rect">
            <a:avLst/>
          </a:prstGeom>
          <a:noFill/>
        </p:spPr>
        <p:txBody>
          <a:bodyPr wrap="square" anchor="t">
            <a:spAutoFit/>
          </a:bodyPr>
          <a:lstStyle/>
          <a:p>
            <a:pPr algn="ctr">
              <a:lnSpc>
                <a:spcPct val="115000"/>
              </a:lnSpc>
              <a:spcAft>
                <a:spcPts val="0"/>
              </a:spcAft>
            </a:pPr>
            <a:r>
              <a:rPr sz="1250" b="0">
                <a:solidFill>
                  <a:srgbClr val="5C6B60"/>
                </a:solidFill>
                <a:latin typeface="Calibri"/>
              </a:rPr>
              <a:t>Target panen perdana gabungan</a:t>
            </a:r>
          </a:p>
        </p:txBody>
      </p:sp>
      <p:sp>
        <p:nvSpPr>
          <p:cNvPr id="13" name="Rounded Rectangle 12"/>
          <p:cNvSpPr/>
          <p:nvPr/>
        </p:nvSpPr>
        <p:spPr>
          <a:xfrm>
            <a:off x="9029471" y="1600200"/>
            <a:ext cx="2522143" cy="2148840"/>
          </a:xfrm>
          <a:prstGeom prst="roundRect">
            <a:avLst>
              <a:gd name="adj" fmla="val 6000"/>
            </a:avLst>
          </a:prstGeom>
          <a:solidFill>
            <a:srgbClr val="F4F8F2"/>
          </a:solidFill>
          <a:ln w="15240">
            <a:solidFill>
              <a:srgbClr val="DCE7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166631" y="1874519"/>
            <a:ext cx="2247823" cy="594360"/>
          </a:xfrm>
          <a:prstGeom prst="rect">
            <a:avLst/>
          </a:prstGeom>
          <a:noFill/>
        </p:spPr>
        <p:txBody>
          <a:bodyPr wrap="square" anchor="t">
            <a:spAutoFit/>
          </a:bodyPr>
          <a:lstStyle/>
          <a:p>
            <a:pPr algn="ctr">
              <a:lnSpc>
                <a:spcPct val="105000"/>
              </a:lnSpc>
              <a:spcAft>
                <a:spcPts val="0"/>
              </a:spcAft>
            </a:pPr>
            <a:r>
              <a:rPr sz="3000" b="1">
                <a:solidFill>
                  <a:srgbClr val="2E7D32"/>
                </a:solidFill>
                <a:latin typeface="Calibri"/>
              </a:rPr>
              <a:t>20%</a:t>
            </a:r>
          </a:p>
        </p:txBody>
      </p:sp>
      <p:sp>
        <p:nvSpPr>
          <p:cNvPr id="15" name="TextBox 14"/>
          <p:cNvSpPr txBox="1"/>
          <p:nvPr/>
        </p:nvSpPr>
        <p:spPr>
          <a:xfrm>
            <a:off x="9212351" y="2606040"/>
            <a:ext cx="2156383" cy="1005840"/>
          </a:xfrm>
          <a:prstGeom prst="rect">
            <a:avLst/>
          </a:prstGeom>
          <a:noFill/>
        </p:spPr>
        <p:txBody>
          <a:bodyPr wrap="square" anchor="t">
            <a:spAutoFit/>
          </a:bodyPr>
          <a:lstStyle/>
          <a:p>
            <a:pPr algn="ctr">
              <a:lnSpc>
                <a:spcPct val="115000"/>
              </a:lnSpc>
              <a:spcAft>
                <a:spcPts val="0"/>
              </a:spcAft>
            </a:pPr>
            <a:r>
              <a:rPr sz="1250" b="0">
                <a:solidFill>
                  <a:srgbClr val="5C6B60"/>
                </a:solidFill>
                <a:latin typeface="Calibri"/>
              </a:rPr>
              <a:t>Kas kelompok untuk bibit periode berikutnya</a:t>
            </a:r>
          </a:p>
        </p:txBody>
      </p:sp>
      <p:sp>
        <p:nvSpPr>
          <p:cNvPr id="16" name="Rounded Rectangle 15"/>
          <p:cNvSpPr/>
          <p:nvPr/>
        </p:nvSpPr>
        <p:spPr>
          <a:xfrm>
            <a:off x="640080" y="4114800"/>
            <a:ext cx="10911535" cy="548640"/>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00" b="1">
                <a:solidFill>
                  <a:srgbClr val="1B5E20"/>
                </a:solidFill>
                <a:latin typeface="Calibri"/>
              </a:rPr>
              <a:t>Program mandiri: kas dari hasil penjualan panen</a:t>
            </a:r>
          </a:p>
        </p:txBody>
      </p:sp>
      <p:sp>
        <p:nvSpPr>
          <p:cNvPr id="17" name="Rounded Rectangle 16"/>
          <p:cNvSpPr/>
          <p:nvPr/>
        </p:nvSpPr>
        <p:spPr>
          <a:xfrm>
            <a:off x="640080" y="4809744"/>
            <a:ext cx="10911535" cy="548640"/>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00" b="1">
                <a:solidFill>
                  <a:srgbClr val="1B5E20"/>
                </a:solidFill>
                <a:latin typeface="Calibri"/>
              </a:rPr>
              <a:t>Evaluasi bulanan bersama pengurus &amp; warga</a:t>
            </a:r>
          </a:p>
        </p:txBody>
      </p:sp>
      <p:sp>
        <p:nvSpPr>
          <p:cNvPr id="18" name="Rounded Rectangle 17"/>
          <p:cNvSpPr/>
          <p:nvPr/>
        </p:nvSpPr>
        <p:spPr>
          <a:xfrm>
            <a:off x="640080" y="5504688"/>
            <a:ext cx="10911535" cy="548640"/>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00" b="1">
                <a:solidFill>
                  <a:srgbClr val="1B5E20"/>
                </a:solidFill>
                <a:latin typeface="Calibri"/>
              </a:rPr>
              <a:t>Laporan terbuka untuk warga dan sponsor</a:t>
            </a:r>
          </a:p>
        </p:txBody>
      </p:sp>
      <p:sp>
        <p:nvSpPr>
          <p:cNvPr id="19" name="TextBox 18"/>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20" name="TextBox 19"/>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1417320"/>
            <a:ext cx="6309360" cy="731520"/>
          </a:xfrm>
          <a:prstGeom prst="rect">
            <a:avLst/>
          </a:prstGeom>
          <a:noFill/>
        </p:spPr>
        <p:txBody>
          <a:bodyPr wrap="square" anchor="t">
            <a:spAutoFit/>
          </a:bodyPr>
          <a:lstStyle/>
          <a:p>
            <a:pPr algn="l">
              <a:lnSpc>
                <a:spcPct val="105000"/>
              </a:lnSpc>
              <a:spcAft>
                <a:spcPts val="0"/>
              </a:spcAft>
            </a:pPr>
            <a:r>
              <a:rPr sz="3400" b="1">
                <a:solidFill>
                  <a:srgbClr val="1B5E20"/>
                </a:solidFill>
                <a:latin typeface="Calibri"/>
              </a:rPr>
              <a:t>Mari Kita Mulai Bersama</a:t>
            </a:r>
          </a:p>
        </p:txBody>
      </p:sp>
      <p:sp>
        <p:nvSpPr>
          <p:cNvPr id="3" name="Rounded Rectangle 2"/>
          <p:cNvSpPr/>
          <p:nvPr/>
        </p:nvSpPr>
        <p:spPr>
          <a:xfrm>
            <a:off x="640080" y="2240280"/>
            <a:ext cx="1280160" cy="64008"/>
          </a:xfrm>
          <a:prstGeom prst="roundRect">
            <a:avLst>
              <a:gd name="adj" fmla="val 5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640080" y="2606040"/>
            <a:ext cx="6309360" cy="603504"/>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00" b="1">
                <a:solidFill>
                  <a:srgbClr val="1B5E20"/>
                </a:solidFill>
                <a:latin typeface="Calibri"/>
              </a:rPr>
              <a:t>Setujui program &amp; anggaran awal Rp1,67 juta</a:t>
            </a:r>
          </a:p>
        </p:txBody>
      </p:sp>
      <p:sp>
        <p:nvSpPr>
          <p:cNvPr id="5" name="Rounded Rectangle 4"/>
          <p:cNvSpPr/>
          <p:nvPr/>
        </p:nvSpPr>
        <p:spPr>
          <a:xfrm>
            <a:off x="640080" y="3355848"/>
            <a:ext cx="6309360" cy="603504"/>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00" b="1">
                <a:solidFill>
                  <a:srgbClr val="1B5E20"/>
                </a:solidFill>
                <a:latin typeface="Calibri"/>
              </a:rPr>
              <a:t>Daftar sebagai KK peserta (10-20 KK pertama)</a:t>
            </a:r>
          </a:p>
        </p:txBody>
      </p:sp>
      <p:sp>
        <p:nvSpPr>
          <p:cNvPr id="6" name="Rounded Rectangle 5"/>
          <p:cNvSpPr/>
          <p:nvPr/>
        </p:nvSpPr>
        <p:spPr>
          <a:xfrm>
            <a:off x="640080" y="4105656"/>
            <a:ext cx="6309360" cy="603504"/>
          </a:xfrm>
          <a:prstGeom prst="roundRect">
            <a:avLst>
              <a:gd name="adj" fmla="val 5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00" b="1">
                <a:solidFill>
                  <a:srgbClr val="1B5E20"/>
                </a:solidFill>
                <a:latin typeface="Calibri"/>
              </a:rPr>
              <a:t>Dukung sebagai sponsor: Kawan Kebun - Patron Panen</a:t>
            </a:r>
          </a:p>
        </p:txBody>
      </p:sp>
      <p:sp>
        <p:nvSpPr>
          <p:cNvPr id="7" name="Rounded Rectangle 6"/>
          <p:cNvSpPr/>
          <p:nvPr/>
        </p:nvSpPr>
        <p:spPr>
          <a:xfrm>
            <a:off x="640080" y="4946904"/>
            <a:ext cx="6309360" cy="566928"/>
          </a:xfrm>
          <a:prstGeom prst="roundRect">
            <a:avLst>
              <a:gd name="adj" fmla="val 50000"/>
            </a:avLst>
          </a:prstGeom>
          <a:solidFill>
            <a:srgbClr val="FFF8E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50" b="1">
                <a:solidFill>
                  <a:srgbClr val="1B5E20"/>
                </a:solidFill>
                <a:latin typeface="Calibri"/>
              </a:rPr>
              <a:t>Musyawarah pengesahan: [Hari/Tanggal], 19.30 di Balai RT [nomor]</a:t>
            </a:r>
          </a:p>
        </p:txBody>
      </p:sp>
      <p:sp>
        <p:nvSpPr>
          <p:cNvPr id="8" name="TextBox 7"/>
          <p:cNvSpPr txBox="1"/>
          <p:nvPr/>
        </p:nvSpPr>
        <p:spPr>
          <a:xfrm>
            <a:off x="640080" y="5724144"/>
            <a:ext cx="6309360" cy="457200"/>
          </a:xfrm>
          <a:prstGeom prst="rect">
            <a:avLst/>
          </a:prstGeom>
          <a:noFill/>
        </p:spPr>
        <p:txBody>
          <a:bodyPr wrap="square" anchor="t">
            <a:spAutoFit/>
          </a:bodyPr>
          <a:lstStyle/>
          <a:p>
            <a:pPr algn="l">
              <a:lnSpc>
                <a:spcPct val="115000"/>
              </a:lnSpc>
              <a:spcAft>
                <a:spcPts val="0"/>
              </a:spcAft>
            </a:pPr>
            <a:r>
              <a:rPr sz="1250" b="0">
                <a:solidFill>
                  <a:srgbClr val="5C6B60"/>
                </a:solidFill>
                <a:latin typeface="Calibri"/>
              </a:rPr>
              <a:t>Kontak: [Nama Panitia] - WA [nomor] | Sekretariat: Balai RT [nomor]</a:t>
            </a:r>
          </a:p>
        </p:txBody>
      </p:sp>
      <p:pic>
        <p:nvPicPr>
          <p:cNvPr id="9" name="Picture 8" descr="cta_hero_470x500.jpg"/>
          <p:cNvPicPr>
            <a:picLocks noChangeAspect="1"/>
          </p:cNvPicPr>
          <p:nvPr/>
        </p:nvPicPr>
        <p:blipFill>
          <a:blip r:embed="rId2"/>
          <a:stretch>
            <a:fillRect/>
          </a:stretch>
        </p:blipFill>
        <p:spPr>
          <a:xfrm>
            <a:off x="7269480" y="1463040"/>
            <a:ext cx="4297680" cy="4572000"/>
          </a:xfrm>
          <a:prstGeom prst="roundRect">
            <a:avLst>
              <a:gd name="adj" fmla="val 9000"/>
            </a:avLst>
          </a:prstGeom>
        </p:spPr>
      </p:pic>
      <p:sp>
        <p:nvSpPr>
          <p:cNvPr id="10" name="TextBox 9"/>
          <p:cNvSpPr txBox="1"/>
          <p:nvPr/>
        </p:nvSpPr>
        <p:spPr>
          <a:xfrm>
            <a:off x="640080" y="6473952"/>
            <a:ext cx="6400800" cy="274320"/>
          </a:xfrm>
          <a:prstGeom prst="rect">
            <a:avLst/>
          </a:prstGeom>
          <a:noFill/>
        </p:spPr>
        <p:txBody>
          <a:bodyPr wrap="square" anchor="t">
            <a:spAutoFit/>
          </a:bodyPr>
          <a:lstStyle/>
          <a:p>
            <a:pPr algn="l">
              <a:lnSpc>
                <a:spcPct val="105000"/>
              </a:lnSpc>
              <a:spcAft>
                <a:spcPts val="0"/>
              </a:spcAft>
            </a:pPr>
            <a:r>
              <a:rPr sz="900" b="0">
                <a:solidFill>
                  <a:srgbClr val="5C6B60"/>
                </a:solidFill>
                <a:latin typeface="Calibri"/>
              </a:rPr>
              <a:t>Proposal Program Integration Farmer  |  RT/RW</a:t>
            </a:r>
          </a:p>
        </p:txBody>
      </p:sp>
      <p:sp>
        <p:nvSpPr>
          <p:cNvPr id="11" name="TextBox 10"/>
          <p:cNvSpPr txBox="1"/>
          <p:nvPr/>
        </p:nvSpPr>
        <p:spPr>
          <a:xfrm>
            <a:off x="10454335" y="6473952"/>
            <a:ext cx="1097280" cy="274320"/>
          </a:xfrm>
          <a:prstGeom prst="rect">
            <a:avLst/>
          </a:prstGeom>
          <a:noFill/>
        </p:spPr>
        <p:txBody>
          <a:bodyPr wrap="square" anchor="t">
            <a:spAutoFit/>
          </a:bodyPr>
          <a:lstStyle/>
          <a:p>
            <a:pPr algn="r">
              <a:lnSpc>
                <a:spcPct val="105000"/>
              </a:lnSpc>
              <a:spcAft>
                <a:spcPts val="0"/>
              </a:spcAft>
            </a:pPr>
            <a:r>
              <a:rPr sz="900" b="0">
                <a:solidFill>
                  <a:srgbClr val="5C6B60"/>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